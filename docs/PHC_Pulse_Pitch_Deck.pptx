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1097280"/>
            <a:ext cx="7315200" cy="274320"/>
          </a:xfrm>
          <a:prstGeom prst="rect">
            <a:avLst/>
          </a:prstGeom>
          <a:noFill/>
          <a:ln/>
        </p:spPr>
        <p:txBody>
          <a:bodyPr wrap="square" rtlCol="0" anchor="ctr"/>
          <a:lstStyle/>
          <a:p>
            <a:pPr indent="0" marL="0">
              <a:buNone/>
            </a:pPr>
            <a:r>
              <a:rPr lang="en-US" sz="1100" b="1" spc="200" kern="0" dirty="0">
                <a:solidFill>
                  <a:srgbClr val="14B8A6"/>
                </a:solidFill>
                <a:latin typeface="Arial" pitchFamily="34" charset="0"/>
                <a:ea typeface="Arial" pitchFamily="34" charset="-122"/>
                <a:cs typeface="Arial" pitchFamily="34" charset="-120"/>
              </a:rPr>
              <a:t>NATIONAL PUBLIC HEALTH SUPPLY CHAIN GRID</a:t>
            </a:r>
            <a:endParaRPr lang="en-US" sz="1100" dirty="0"/>
          </a:p>
        </p:txBody>
      </p:sp>
      <p:sp>
        <p:nvSpPr>
          <p:cNvPr id="3" name="Text 1"/>
          <p:cNvSpPr/>
          <p:nvPr/>
        </p:nvSpPr>
        <p:spPr>
          <a:xfrm>
            <a:off x="731520" y="1463040"/>
            <a:ext cx="10515600" cy="1280160"/>
          </a:xfrm>
          <a:prstGeom prst="rect">
            <a:avLst/>
          </a:prstGeom>
          <a:noFill/>
          <a:ln/>
        </p:spPr>
        <p:txBody>
          <a:bodyPr wrap="square" rtlCol="0" anchor="ctr"/>
          <a:lstStyle/>
          <a:p>
            <a:pPr indent="0" marL="0">
              <a:lnSpc>
                <a:spcPts val="3800"/>
              </a:lnSpc>
              <a:buNone/>
            </a:pPr>
            <a:r>
              <a:rPr lang="en-US" sz="3400" b="1" dirty="0">
                <a:solidFill>
                  <a:srgbClr val="FFFFFF"/>
                </a:solidFill>
                <a:latin typeface="Arial" pitchFamily="34" charset="0"/>
                <a:ea typeface="Arial" pitchFamily="34" charset="-122"/>
                <a:cs typeface="Arial" pitchFamily="34" charset="-120"/>
              </a:rPr>
              <a:t>PHC Pulse: The Self-Healing</a:t>
            </a:r>
            <a:endParaRPr lang="en-US" sz="3400" dirty="0"/>
          </a:p>
          <a:p>
            <a:pPr indent="0" marL="0">
              <a:lnSpc>
                <a:spcPts val="3800"/>
              </a:lnSpc>
              <a:buNone/>
            </a:pPr>
            <a:r>
              <a:rPr lang="en-US" sz="3400" b="1" dirty="0">
                <a:solidFill>
                  <a:srgbClr val="FFFFFF"/>
                </a:solidFill>
                <a:latin typeface="Arial" pitchFamily="34" charset="0"/>
                <a:ea typeface="Arial" pitchFamily="34" charset="-122"/>
                <a:cs typeface="Arial" pitchFamily="34" charset="-120"/>
              </a:rPr>
              <a:t>Public Health Supply Chain</a:t>
            </a:r>
            <a:endParaRPr lang="en-US" sz="3400" dirty="0"/>
          </a:p>
        </p:txBody>
      </p:sp>
      <p:sp>
        <p:nvSpPr>
          <p:cNvPr id="4" name="Text 2"/>
          <p:cNvSpPr/>
          <p:nvPr/>
        </p:nvSpPr>
        <p:spPr>
          <a:xfrm>
            <a:off x="731520" y="2880360"/>
            <a:ext cx="10058400" cy="548640"/>
          </a:xfrm>
          <a:prstGeom prst="rect">
            <a:avLst/>
          </a:prstGeom>
          <a:noFill/>
          <a:ln/>
        </p:spPr>
        <p:txBody>
          <a:bodyPr wrap="square" rtlCol="0" anchor="ctr"/>
          <a:lstStyle/>
          <a:p>
            <a:pPr indent="0" marL="0">
              <a:buNone/>
            </a:pPr>
            <a:r>
              <a:rPr lang="en-US" sz="1400" dirty="0">
                <a:solidFill>
                  <a:srgbClr val="E2E8F0"/>
                </a:solidFill>
                <a:latin typeface="Arial" pitchFamily="34" charset="0"/>
                <a:ea typeface="Arial" pitchFamily="34" charset="-122"/>
                <a:cs typeface="Arial" pitchFamily="34" charset="-120"/>
              </a:rPr>
              <a:t>Real-time visibility, multimodal register ingestion, and inter-state federated demand forecasting for 30,000+ Primary Health Centres across India.</a:t>
            </a:r>
            <a:endParaRPr lang="en-US" sz="1400" dirty="0"/>
          </a:p>
        </p:txBody>
      </p:sp>
      <p:sp>
        <p:nvSpPr>
          <p:cNvPr id="5" name="Shape 3"/>
          <p:cNvSpPr/>
          <p:nvPr/>
        </p:nvSpPr>
        <p:spPr>
          <a:xfrm>
            <a:off x="731520" y="3749040"/>
            <a:ext cx="3383280" cy="2011680"/>
          </a:xfrm>
          <a:prstGeom prst="roundRect">
            <a:avLst>
              <a:gd name="adj" fmla="val 6818"/>
            </a:avLst>
          </a:prstGeom>
          <a:solidFill>
            <a:srgbClr val="1E293B"/>
          </a:solidFill>
          <a:ln w="12700">
            <a:solidFill>
              <a:srgbClr val="334155"/>
            </a:solidFill>
            <a:prstDash val="solid"/>
          </a:ln>
        </p:spPr>
      </p:sp>
      <p:sp>
        <p:nvSpPr>
          <p:cNvPr id="6" name="Text 4"/>
          <p:cNvSpPr/>
          <p:nvPr/>
        </p:nvSpPr>
        <p:spPr>
          <a:xfrm>
            <a:off x="1005840" y="3931920"/>
            <a:ext cx="2834640" cy="365760"/>
          </a:xfrm>
          <a:prstGeom prst="rect">
            <a:avLst/>
          </a:prstGeom>
          <a:noFill/>
          <a:ln/>
        </p:spPr>
        <p:txBody>
          <a:bodyPr wrap="square" rtlCol="0" anchor="ctr"/>
          <a:lstStyle/>
          <a:p>
            <a:pPr indent="0" marL="0">
              <a:buNone/>
            </a:pPr>
            <a:r>
              <a:rPr lang="en-US" sz="1300" b="1" dirty="0">
                <a:solidFill>
                  <a:srgbClr val="14B8A6"/>
                </a:solidFill>
                <a:latin typeface="Arial" pitchFamily="34" charset="0"/>
                <a:ea typeface="Arial" pitchFamily="34" charset="-122"/>
                <a:cs typeface="Arial" pitchFamily="34" charset="-120"/>
              </a:rPr>
              <a:t>Multimodal Last-Mile AI</a:t>
            </a:r>
            <a:endParaRPr lang="en-US" sz="1300" dirty="0"/>
          </a:p>
        </p:txBody>
      </p:sp>
      <p:sp>
        <p:nvSpPr>
          <p:cNvPr id="7" name="Text 5"/>
          <p:cNvSpPr/>
          <p:nvPr/>
        </p:nvSpPr>
        <p:spPr>
          <a:xfrm>
            <a:off x="1005840" y="4389120"/>
            <a:ext cx="2834640" cy="1188720"/>
          </a:xfrm>
          <a:prstGeom prst="rect">
            <a:avLst/>
          </a:prstGeom>
          <a:noFill/>
          <a:ln/>
        </p:spPr>
        <p:txBody>
          <a:bodyPr wrap="square" rtlCol="0" anchor="ctr"/>
          <a:lstStyle/>
          <a:p>
            <a:pPr indent="0" marL="0">
              <a:lnSpc>
                <a:spcPts val="1400"/>
              </a:lnSpc>
              <a:buNone/>
            </a:pPr>
            <a:r>
              <a:rPr lang="en-US" sz="1050" dirty="0">
                <a:solidFill>
                  <a:srgbClr val="E2E8F0"/>
                </a:solidFill>
                <a:latin typeface="Arial" pitchFamily="34" charset="0"/>
                <a:ea typeface="Arial" pitchFamily="34" charset="-122"/>
                <a:cs typeface="Arial" pitchFamily="34" charset="-120"/>
              </a:rPr>
              <a:t>Digitizes handwritten Hindi, Marathi, Malayalam &amp; Assamese registers or voice notes in &lt;2.5s with zero hallucination.</a:t>
            </a:r>
            <a:endParaRPr lang="en-US" sz="1050" dirty="0"/>
          </a:p>
        </p:txBody>
      </p:sp>
      <p:sp>
        <p:nvSpPr>
          <p:cNvPr id="8" name="Shape 6"/>
          <p:cNvSpPr/>
          <p:nvPr/>
        </p:nvSpPr>
        <p:spPr>
          <a:xfrm>
            <a:off x="4389120" y="3749040"/>
            <a:ext cx="3383280" cy="2011680"/>
          </a:xfrm>
          <a:prstGeom prst="roundRect">
            <a:avLst>
              <a:gd name="adj" fmla="val 6818"/>
            </a:avLst>
          </a:prstGeom>
          <a:solidFill>
            <a:srgbClr val="1E293B"/>
          </a:solidFill>
          <a:ln w="12700">
            <a:solidFill>
              <a:srgbClr val="334155"/>
            </a:solidFill>
            <a:prstDash val="solid"/>
          </a:ln>
        </p:spPr>
      </p:sp>
      <p:sp>
        <p:nvSpPr>
          <p:cNvPr id="9" name="Text 7"/>
          <p:cNvSpPr/>
          <p:nvPr/>
        </p:nvSpPr>
        <p:spPr>
          <a:xfrm>
            <a:off x="4663440" y="3931920"/>
            <a:ext cx="2834640" cy="365760"/>
          </a:xfrm>
          <a:prstGeom prst="rect">
            <a:avLst/>
          </a:prstGeom>
          <a:noFill/>
          <a:ln/>
        </p:spPr>
        <p:txBody>
          <a:bodyPr wrap="square" rtlCol="0" anchor="ctr"/>
          <a:lstStyle/>
          <a:p>
            <a:pPr indent="0" marL="0">
              <a:buNone/>
            </a:pPr>
            <a:r>
              <a:rPr lang="en-US" sz="1300" b="1" dirty="0">
                <a:solidFill>
                  <a:srgbClr val="14B8A6"/>
                </a:solidFill>
                <a:latin typeface="Arial" pitchFamily="34" charset="0"/>
                <a:ea typeface="Arial" pitchFamily="34" charset="-122"/>
                <a:cs typeface="Arial" pitchFamily="34" charset="-120"/>
              </a:rPr>
              <a:t>Intra-State Redistribution</a:t>
            </a:r>
            <a:endParaRPr lang="en-US" sz="1300" dirty="0"/>
          </a:p>
        </p:txBody>
      </p:sp>
      <p:sp>
        <p:nvSpPr>
          <p:cNvPr id="10" name="Text 8"/>
          <p:cNvSpPr/>
          <p:nvPr/>
        </p:nvSpPr>
        <p:spPr>
          <a:xfrm>
            <a:off x="4663440" y="4389120"/>
            <a:ext cx="2834640" cy="1188720"/>
          </a:xfrm>
          <a:prstGeom prst="rect">
            <a:avLst/>
          </a:prstGeom>
          <a:noFill/>
          <a:ln/>
        </p:spPr>
        <p:txBody>
          <a:bodyPr wrap="square" rtlCol="0" anchor="ctr"/>
          <a:lstStyle/>
          <a:p>
            <a:pPr indent="0" marL="0">
              <a:lnSpc>
                <a:spcPts val="1400"/>
              </a:lnSpc>
              <a:buNone/>
            </a:pPr>
            <a:r>
              <a:rPr lang="en-US" sz="1050" dirty="0">
                <a:solidFill>
                  <a:srgbClr val="E2E8F0"/>
                </a:solidFill>
                <a:latin typeface="Arial" pitchFamily="34" charset="0"/>
                <a:ea typeface="Arial" pitchFamily="34" charset="-122"/>
                <a:cs typeface="Arial" pitchFamily="34" charset="-120"/>
              </a:rPr>
              <a:t>OR-Tools road routing pairs deficit facilities with near-expiry surplus depots inside state health boundaries.</a:t>
            </a:r>
            <a:endParaRPr lang="en-US" sz="1050" dirty="0"/>
          </a:p>
        </p:txBody>
      </p:sp>
      <p:sp>
        <p:nvSpPr>
          <p:cNvPr id="11" name="Shape 9"/>
          <p:cNvSpPr/>
          <p:nvPr/>
        </p:nvSpPr>
        <p:spPr>
          <a:xfrm>
            <a:off x="8046720" y="3749040"/>
            <a:ext cx="3383280" cy="2011680"/>
          </a:xfrm>
          <a:prstGeom prst="roundRect">
            <a:avLst>
              <a:gd name="adj" fmla="val 6818"/>
            </a:avLst>
          </a:prstGeom>
          <a:solidFill>
            <a:srgbClr val="1E293B"/>
          </a:solidFill>
          <a:ln w="12700">
            <a:solidFill>
              <a:srgbClr val="334155"/>
            </a:solidFill>
            <a:prstDash val="solid"/>
          </a:ln>
        </p:spPr>
      </p:sp>
      <p:sp>
        <p:nvSpPr>
          <p:cNvPr id="12" name="Text 10"/>
          <p:cNvSpPr/>
          <p:nvPr/>
        </p:nvSpPr>
        <p:spPr>
          <a:xfrm>
            <a:off x="8321040" y="3931920"/>
            <a:ext cx="2834640" cy="365760"/>
          </a:xfrm>
          <a:prstGeom prst="rect">
            <a:avLst/>
          </a:prstGeom>
          <a:noFill/>
          <a:ln/>
        </p:spPr>
        <p:txBody>
          <a:bodyPr wrap="square" rtlCol="0" anchor="ctr"/>
          <a:lstStyle/>
          <a:p>
            <a:pPr indent="0" marL="0">
              <a:buNone/>
            </a:pPr>
            <a:r>
              <a:rPr lang="en-US" sz="1300" b="1" dirty="0">
                <a:solidFill>
                  <a:srgbClr val="14B8A6"/>
                </a:solidFill>
                <a:latin typeface="Arial" pitchFamily="34" charset="0"/>
                <a:ea typeface="Arial" pitchFamily="34" charset="-122"/>
                <a:cs typeface="Arial" pitchFamily="34" charset="-120"/>
              </a:rPr>
              <a:t>Constitutional Sovereignty</a:t>
            </a:r>
            <a:endParaRPr lang="en-US" sz="1300" dirty="0"/>
          </a:p>
        </p:txBody>
      </p:sp>
      <p:sp>
        <p:nvSpPr>
          <p:cNvPr id="13" name="Text 11"/>
          <p:cNvSpPr/>
          <p:nvPr/>
        </p:nvSpPr>
        <p:spPr>
          <a:xfrm>
            <a:off x="8321040" y="4389120"/>
            <a:ext cx="2834640" cy="1188720"/>
          </a:xfrm>
          <a:prstGeom prst="rect">
            <a:avLst/>
          </a:prstGeom>
          <a:noFill/>
          <a:ln/>
        </p:spPr>
        <p:txBody>
          <a:bodyPr wrap="square" rtlCol="0" anchor="ctr"/>
          <a:lstStyle/>
          <a:p>
            <a:pPr indent="0" marL="0">
              <a:lnSpc>
                <a:spcPts val="1400"/>
              </a:lnSpc>
              <a:buNone/>
            </a:pPr>
            <a:r>
              <a:rPr lang="en-US" sz="1050" dirty="0">
                <a:solidFill>
                  <a:srgbClr val="E2E8F0"/>
                </a:solidFill>
                <a:latin typeface="Arial" pitchFamily="34" charset="0"/>
                <a:ea typeface="Arial" pitchFamily="34" charset="-122"/>
                <a:cs typeface="Arial" pitchFamily="34" charset="-120"/>
              </a:rPr>
              <a:t>Federated intelligence across MP, MH, KL &amp; AS state nodes: zero patient PII or facility records cross state borders.</a:t>
            </a:r>
            <a:endParaRPr lang="en-US" sz="1050" dirty="0"/>
          </a:p>
        </p:txBody>
      </p:sp>
      <p:sp>
        <p:nvSpPr>
          <p:cNvPr id="14" name="Text 12"/>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1 of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PROBLEM DEFINITION  |  SLIDE 2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Rural Blind Spot &amp; Stock-Out Reality</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Life-saving medicines expire in one district while patients suffer in the next</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2</a:t>
            </a:r>
            <a:endParaRPr lang="en-US" sz="900" dirty="0"/>
          </a:p>
        </p:txBody>
      </p:sp>
      <p:sp>
        <p:nvSpPr>
          <p:cNvPr id="8" name="Shape 6"/>
          <p:cNvSpPr/>
          <p:nvPr/>
        </p:nvSpPr>
        <p:spPr>
          <a:xfrm>
            <a:off x="731520" y="1645920"/>
            <a:ext cx="6583680" cy="1234440"/>
          </a:xfrm>
          <a:prstGeom prst="roundRect">
            <a:avLst>
              <a:gd name="adj" fmla="val 7407"/>
            </a:avLst>
          </a:prstGeom>
          <a:solidFill>
            <a:srgbClr val="1E293B"/>
          </a:solidFill>
          <a:ln w="12700">
            <a:solidFill>
              <a:srgbClr val="334155"/>
            </a:solidFill>
            <a:prstDash val="solid"/>
          </a:ln>
        </p:spPr>
      </p:sp>
      <p:sp>
        <p:nvSpPr>
          <p:cNvPr id="9" name="Text 7"/>
          <p:cNvSpPr/>
          <p:nvPr/>
        </p:nvSpPr>
        <p:spPr>
          <a:xfrm>
            <a:off x="1005840" y="1783080"/>
            <a:ext cx="603504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Paper Register Bottleneck</a:t>
            </a:r>
            <a:endParaRPr lang="en-US" sz="1200" dirty="0"/>
          </a:p>
        </p:txBody>
      </p:sp>
      <p:sp>
        <p:nvSpPr>
          <p:cNvPr id="10" name="Text 8"/>
          <p:cNvSpPr/>
          <p:nvPr/>
        </p:nvSpPr>
        <p:spPr>
          <a:xfrm>
            <a:off x="1005840" y="2057400"/>
            <a:ext cx="6035040" cy="73152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Over 30,000 PHCs serve 70% of India's population. Frontline nurses spend up to 40% of their day writing in physical paper ledgers.</a:t>
            </a:r>
            <a:endParaRPr lang="en-US" sz="1000" dirty="0"/>
          </a:p>
        </p:txBody>
      </p:sp>
      <p:sp>
        <p:nvSpPr>
          <p:cNvPr id="11" name="Shape 9"/>
          <p:cNvSpPr/>
          <p:nvPr/>
        </p:nvSpPr>
        <p:spPr>
          <a:xfrm>
            <a:off x="731520" y="3063240"/>
            <a:ext cx="6583680" cy="1234440"/>
          </a:xfrm>
          <a:prstGeom prst="roundRect">
            <a:avLst>
              <a:gd name="adj" fmla="val 7407"/>
            </a:avLst>
          </a:prstGeom>
          <a:solidFill>
            <a:srgbClr val="1E293B"/>
          </a:solidFill>
          <a:ln w="12700">
            <a:solidFill>
              <a:srgbClr val="334155"/>
            </a:solidFill>
            <a:prstDash val="solid"/>
          </a:ln>
        </p:spPr>
      </p:sp>
      <p:sp>
        <p:nvSpPr>
          <p:cNvPr id="12" name="Text 10"/>
          <p:cNvSpPr/>
          <p:nvPr/>
        </p:nvSpPr>
        <p:spPr>
          <a:xfrm>
            <a:off x="1005840" y="3200400"/>
            <a:ext cx="603504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14–28 Day Reporting Latency</a:t>
            </a:r>
            <a:endParaRPr lang="en-US" sz="1200" dirty="0"/>
          </a:p>
        </p:txBody>
      </p:sp>
      <p:sp>
        <p:nvSpPr>
          <p:cNvPr id="13" name="Text 11"/>
          <p:cNvSpPr/>
          <p:nvPr/>
        </p:nvSpPr>
        <p:spPr>
          <a:xfrm>
            <a:off x="1005840" y="3474720"/>
            <a:ext cx="6035040" cy="73152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Physical stock dispatches take weeks to reach District Chief Medical Officers, hiding acute shortages until stockouts trigger crises.</a:t>
            </a:r>
            <a:endParaRPr lang="en-US" sz="1000" dirty="0"/>
          </a:p>
        </p:txBody>
      </p:sp>
      <p:sp>
        <p:nvSpPr>
          <p:cNvPr id="14" name="Shape 12"/>
          <p:cNvSpPr/>
          <p:nvPr/>
        </p:nvSpPr>
        <p:spPr>
          <a:xfrm>
            <a:off x="731520" y="4480560"/>
            <a:ext cx="6583680" cy="1234440"/>
          </a:xfrm>
          <a:prstGeom prst="roundRect">
            <a:avLst>
              <a:gd name="adj" fmla="val 7407"/>
            </a:avLst>
          </a:prstGeom>
          <a:solidFill>
            <a:srgbClr val="1E293B"/>
          </a:solidFill>
          <a:ln w="12700">
            <a:solidFill>
              <a:srgbClr val="334155"/>
            </a:solidFill>
            <a:prstDash val="solid"/>
          </a:ln>
        </p:spPr>
      </p:sp>
      <p:sp>
        <p:nvSpPr>
          <p:cNvPr id="15" name="Text 13"/>
          <p:cNvSpPr/>
          <p:nvPr/>
        </p:nvSpPr>
        <p:spPr>
          <a:xfrm>
            <a:off x="1005840" y="4617720"/>
            <a:ext cx="603504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Adjacent District Paradox</a:t>
            </a:r>
            <a:endParaRPr lang="en-US" sz="1200" dirty="0"/>
          </a:p>
        </p:txBody>
      </p:sp>
      <p:sp>
        <p:nvSpPr>
          <p:cNvPr id="16" name="Text 14"/>
          <p:cNvSpPr/>
          <p:nvPr/>
        </p:nvSpPr>
        <p:spPr>
          <a:xfrm>
            <a:off x="1005840" y="4892040"/>
            <a:ext cx="6035040" cy="73152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District A runs out of anti-snake venom during monsoon floods, while District B (45 km away) holds 90 days of expiring surplus.</a:t>
            </a:r>
            <a:endParaRPr lang="en-US" sz="1000" dirty="0"/>
          </a:p>
        </p:txBody>
      </p:sp>
      <p:sp>
        <p:nvSpPr>
          <p:cNvPr id="17" name="Shape 15"/>
          <p:cNvSpPr/>
          <p:nvPr/>
        </p:nvSpPr>
        <p:spPr>
          <a:xfrm>
            <a:off x="7589520" y="1645920"/>
            <a:ext cx="3840480" cy="4251960"/>
          </a:xfrm>
          <a:prstGeom prst="roundRect">
            <a:avLst>
              <a:gd name="adj" fmla="val 3571"/>
            </a:avLst>
          </a:prstGeom>
          <a:solidFill>
            <a:srgbClr val="172033"/>
          </a:solidFill>
          <a:ln w="19050">
            <a:solidFill>
              <a:srgbClr val="F59E0B"/>
            </a:solidFill>
            <a:prstDash val="solid"/>
          </a:ln>
        </p:spPr>
      </p:sp>
      <p:sp>
        <p:nvSpPr>
          <p:cNvPr id="18" name="Text 16"/>
          <p:cNvSpPr/>
          <p:nvPr/>
        </p:nvSpPr>
        <p:spPr>
          <a:xfrm>
            <a:off x="7863840" y="1920240"/>
            <a:ext cx="329184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THE HUMAN &amp; FINANCIAL COST</a:t>
            </a:r>
            <a:endParaRPr lang="en-US" sz="1100" dirty="0"/>
          </a:p>
        </p:txBody>
      </p:sp>
      <p:sp>
        <p:nvSpPr>
          <p:cNvPr id="19" name="Text 17"/>
          <p:cNvSpPr/>
          <p:nvPr/>
        </p:nvSpPr>
        <p:spPr>
          <a:xfrm>
            <a:off x="7863840" y="2377440"/>
            <a:ext cx="3291840" cy="73152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35%</a:t>
            </a:r>
            <a:endParaRPr lang="en-US" sz="3800" dirty="0"/>
          </a:p>
        </p:txBody>
      </p:sp>
      <p:sp>
        <p:nvSpPr>
          <p:cNvPr id="20" name="Text 18"/>
          <p:cNvSpPr/>
          <p:nvPr/>
        </p:nvSpPr>
        <p:spPr>
          <a:xfrm>
            <a:off x="7863840" y="3108960"/>
            <a:ext cx="3291840" cy="54864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Of medicine incinerations in state depots are preventable with 60-day early redistribution.</a:t>
            </a:r>
            <a:endParaRPr lang="en-US" sz="1050" dirty="0"/>
          </a:p>
        </p:txBody>
      </p:sp>
      <p:sp>
        <p:nvSpPr>
          <p:cNvPr id="21" name="Text 19"/>
          <p:cNvSpPr/>
          <p:nvPr/>
        </p:nvSpPr>
        <p:spPr>
          <a:xfrm>
            <a:off x="7863840" y="3931920"/>
            <a:ext cx="329184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11% Stock-Out Days</a:t>
            </a:r>
            <a:endParaRPr lang="en-US" sz="1600" dirty="0"/>
          </a:p>
        </p:txBody>
      </p:sp>
      <p:sp>
        <p:nvSpPr>
          <p:cNvPr id="22" name="Text 20"/>
          <p:cNvSpPr/>
          <p:nvPr/>
        </p:nvSpPr>
        <p:spPr>
          <a:xfrm>
            <a:off x="7863840" y="4343400"/>
            <a:ext cx="3291840" cy="54864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Observed across rural PHC supply pairs during seasonal monsoon and epidemic peaks.</a:t>
            </a:r>
            <a:endParaRPr lang="en-US" sz="1050" dirty="0"/>
          </a:p>
        </p:txBody>
      </p:sp>
      <p:sp>
        <p:nvSpPr>
          <p:cNvPr id="23" name="Text 21"/>
          <p:cNvSpPr/>
          <p:nvPr/>
        </p:nvSpPr>
        <p:spPr>
          <a:xfrm>
            <a:off x="7863840" y="5120640"/>
            <a:ext cx="3291840" cy="640080"/>
          </a:xfrm>
          <a:prstGeom prst="rect">
            <a:avLst/>
          </a:prstGeom>
          <a:noFill/>
          <a:ln/>
        </p:spPr>
        <p:txBody>
          <a:bodyPr wrap="square" rtlCol="0" anchor="ctr"/>
          <a:lstStyle/>
          <a:p>
            <a:pPr indent="0" marL="0">
              <a:buNone/>
            </a:pPr>
            <a:r>
              <a:rPr lang="en-US" sz="1000" i="1" dirty="0">
                <a:solidFill>
                  <a:srgbClr val="14B8A6"/>
                </a:solidFill>
                <a:latin typeface="Arial" pitchFamily="34" charset="0"/>
                <a:ea typeface="Arial" pitchFamily="34" charset="-122"/>
                <a:cs typeface="Arial" pitchFamily="34" charset="-120"/>
              </a:rPr>
              <a:t>Core Takeaway: India has stock, but lacks real-time visibility and dynamic reallocation mechanisms.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WORKFLOW FRICTION  |  SLIDE 3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Why Traditional Portals Fail the Last Mile</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DVDMS and web portals struggle at rural sub-centres and tribal clinics</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3</a:t>
            </a:r>
            <a:endParaRPr lang="en-US" sz="900" dirty="0"/>
          </a:p>
        </p:txBody>
      </p:sp>
      <p:sp>
        <p:nvSpPr>
          <p:cNvPr id="8" name="Shape 6"/>
          <p:cNvSpPr/>
          <p:nvPr/>
        </p:nvSpPr>
        <p:spPr>
          <a:xfrm>
            <a:off x="731520" y="1645920"/>
            <a:ext cx="2560320" cy="868680"/>
          </a:xfrm>
          <a:prstGeom prst="roundRect">
            <a:avLst>
              <a:gd name="adj" fmla="val 10526"/>
            </a:avLst>
          </a:prstGeom>
          <a:solidFill>
            <a:srgbClr val="1E293B"/>
          </a:solidFill>
          <a:ln w="12700">
            <a:solidFill>
              <a:srgbClr val="334155"/>
            </a:solidFill>
            <a:prstDash val="solid"/>
          </a:ln>
        </p:spPr>
      </p:sp>
      <p:sp>
        <p:nvSpPr>
          <p:cNvPr id="9" name="Text 7"/>
          <p:cNvSpPr/>
          <p:nvPr/>
        </p:nvSpPr>
        <p:spPr>
          <a:xfrm>
            <a:off x="914400" y="1920240"/>
            <a:ext cx="219456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Input Modality</a:t>
            </a:r>
            <a:endParaRPr lang="en-US" sz="1200" dirty="0"/>
          </a:p>
        </p:txBody>
      </p:sp>
      <p:sp>
        <p:nvSpPr>
          <p:cNvPr id="10" name="Shape 8"/>
          <p:cNvSpPr/>
          <p:nvPr/>
        </p:nvSpPr>
        <p:spPr>
          <a:xfrm>
            <a:off x="3474720" y="1645920"/>
            <a:ext cx="3749040" cy="868680"/>
          </a:xfrm>
          <a:prstGeom prst="roundRect">
            <a:avLst>
              <a:gd name="adj" fmla="val 10526"/>
            </a:avLst>
          </a:prstGeom>
          <a:solidFill>
            <a:srgbClr val="1E1B2E"/>
          </a:solidFill>
          <a:ln w="12700">
            <a:solidFill>
              <a:srgbClr val="4C1D95"/>
            </a:solidFill>
            <a:prstDash val="solid"/>
          </a:ln>
        </p:spPr>
      </p:sp>
      <p:sp>
        <p:nvSpPr>
          <p:cNvPr id="11" name="Text 9"/>
          <p:cNvSpPr/>
          <p:nvPr/>
        </p:nvSpPr>
        <p:spPr>
          <a:xfrm>
            <a:off x="3657600" y="1783080"/>
            <a:ext cx="3383280" cy="640080"/>
          </a:xfrm>
          <a:prstGeom prst="rect">
            <a:avLst/>
          </a:prstGeom>
          <a:noFill/>
          <a:ln/>
        </p:spPr>
        <p:txBody>
          <a:bodyPr wrap="square" rtlCol="0" anchor="ctr"/>
          <a:lstStyle/>
          <a:p>
            <a:pPr indent="0" marL="0">
              <a:buNone/>
            </a:pPr>
            <a:r>
              <a:rPr lang="en-US" sz="1000" dirty="0">
                <a:solidFill>
                  <a:srgbClr val="D8B4FE"/>
                </a:solidFill>
                <a:latin typeface="Arial" pitchFamily="34" charset="0"/>
                <a:ea typeface="Arial" pitchFamily="34" charset="-122"/>
                <a:cs typeface="Arial" pitchFamily="34" charset="-120"/>
              </a:rPr>
              <a:t>Manual keyboard alphanumeric typing into complex portal screens</a:t>
            </a:r>
            <a:endParaRPr lang="en-US" sz="1000" dirty="0"/>
          </a:p>
        </p:txBody>
      </p:sp>
      <p:sp>
        <p:nvSpPr>
          <p:cNvPr id="12" name="Shape 10"/>
          <p:cNvSpPr/>
          <p:nvPr/>
        </p:nvSpPr>
        <p:spPr>
          <a:xfrm>
            <a:off x="7406640" y="1645920"/>
            <a:ext cx="4023360" cy="868680"/>
          </a:xfrm>
          <a:prstGeom prst="roundRect">
            <a:avLst>
              <a:gd name="adj" fmla="val 10526"/>
            </a:avLst>
          </a:prstGeom>
          <a:solidFill>
            <a:srgbClr val="064E3B"/>
          </a:solidFill>
          <a:ln w="12700">
            <a:solidFill>
              <a:srgbClr val="059669"/>
            </a:solidFill>
            <a:prstDash val="solid"/>
          </a:ln>
        </p:spPr>
      </p:sp>
      <p:sp>
        <p:nvSpPr>
          <p:cNvPr id="13" name="Text 11"/>
          <p:cNvSpPr/>
          <p:nvPr/>
        </p:nvSpPr>
        <p:spPr>
          <a:xfrm>
            <a:off x="7589520" y="1783080"/>
            <a:ext cx="3657600" cy="640080"/>
          </a:xfrm>
          <a:prstGeom prst="rect">
            <a:avLst/>
          </a:prstGeom>
          <a:noFill/>
          <a:ln/>
        </p:spPr>
        <p:txBody>
          <a:bodyPr wrap="square" rtlCol="0" anchor="ctr"/>
          <a:lstStyle/>
          <a:p>
            <a:pPr indent="0" marL="0">
              <a:buNone/>
            </a:pPr>
            <a:r>
              <a:rPr lang="en-US" sz="1000" b="1" dirty="0">
                <a:solidFill>
                  <a:srgbClr val="A7F3D0"/>
                </a:solidFill>
                <a:latin typeface="Arial" pitchFamily="34" charset="0"/>
                <a:ea typeface="Arial" pitchFamily="34" charset="-122"/>
                <a:cs typeface="Arial" pitchFamily="34" charset="-120"/>
              </a:rPr>
              <a:t>20-sec voice dispatch or smartphone snapshot of existing paper ledger</a:t>
            </a:r>
            <a:endParaRPr lang="en-US" sz="1000" dirty="0"/>
          </a:p>
        </p:txBody>
      </p:sp>
      <p:sp>
        <p:nvSpPr>
          <p:cNvPr id="14" name="Shape 12"/>
          <p:cNvSpPr/>
          <p:nvPr/>
        </p:nvSpPr>
        <p:spPr>
          <a:xfrm>
            <a:off x="731520" y="2697480"/>
            <a:ext cx="2560320" cy="868680"/>
          </a:xfrm>
          <a:prstGeom prst="roundRect">
            <a:avLst>
              <a:gd name="adj" fmla="val 10526"/>
            </a:avLst>
          </a:prstGeom>
          <a:solidFill>
            <a:srgbClr val="1E293B"/>
          </a:solidFill>
          <a:ln w="12700">
            <a:solidFill>
              <a:srgbClr val="334155"/>
            </a:solidFill>
            <a:prstDash val="solid"/>
          </a:ln>
        </p:spPr>
      </p:sp>
      <p:sp>
        <p:nvSpPr>
          <p:cNvPr id="15" name="Text 13"/>
          <p:cNvSpPr/>
          <p:nvPr/>
        </p:nvSpPr>
        <p:spPr>
          <a:xfrm>
            <a:off x="914400" y="2971800"/>
            <a:ext cx="219456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Linguistic Barrier</a:t>
            </a:r>
            <a:endParaRPr lang="en-US" sz="1200" dirty="0"/>
          </a:p>
        </p:txBody>
      </p:sp>
      <p:sp>
        <p:nvSpPr>
          <p:cNvPr id="16" name="Shape 14"/>
          <p:cNvSpPr/>
          <p:nvPr/>
        </p:nvSpPr>
        <p:spPr>
          <a:xfrm>
            <a:off x="3474720" y="2697480"/>
            <a:ext cx="3749040" cy="868680"/>
          </a:xfrm>
          <a:prstGeom prst="roundRect">
            <a:avLst>
              <a:gd name="adj" fmla="val 10526"/>
            </a:avLst>
          </a:prstGeom>
          <a:solidFill>
            <a:srgbClr val="1E1B2E"/>
          </a:solidFill>
          <a:ln w="12700">
            <a:solidFill>
              <a:srgbClr val="4C1D95"/>
            </a:solidFill>
            <a:prstDash val="solid"/>
          </a:ln>
        </p:spPr>
      </p:sp>
      <p:sp>
        <p:nvSpPr>
          <p:cNvPr id="17" name="Text 15"/>
          <p:cNvSpPr/>
          <p:nvPr/>
        </p:nvSpPr>
        <p:spPr>
          <a:xfrm>
            <a:off x="3657600" y="2834640"/>
            <a:ext cx="3383280" cy="640080"/>
          </a:xfrm>
          <a:prstGeom prst="rect">
            <a:avLst/>
          </a:prstGeom>
          <a:noFill/>
          <a:ln/>
        </p:spPr>
        <p:txBody>
          <a:bodyPr wrap="square" rtlCol="0" anchor="ctr"/>
          <a:lstStyle/>
          <a:p>
            <a:pPr indent="0" marL="0">
              <a:buNone/>
            </a:pPr>
            <a:r>
              <a:rPr lang="en-US" sz="1000" dirty="0">
                <a:solidFill>
                  <a:srgbClr val="D8B4FE"/>
                </a:solidFill>
                <a:latin typeface="Arial" pitchFamily="34" charset="0"/>
                <a:ea typeface="Arial" pitchFamily="34" charset="-122"/>
                <a:cs typeface="Arial" pitchFamily="34" charset="-120"/>
              </a:rPr>
              <a:t>English-dominant UI; rejects regional dialects and mixed handwritten terms</a:t>
            </a:r>
            <a:endParaRPr lang="en-US" sz="1000" dirty="0"/>
          </a:p>
        </p:txBody>
      </p:sp>
      <p:sp>
        <p:nvSpPr>
          <p:cNvPr id="18" name="Shape 16"/>
          <p:cNvSpPr/>
          <p:nvPr/>
        </p:nvSpPr>
        <p:spPr>
          <a:xfrm>
            <a:off x="7406640" y="2697480"/>
            <a:ext cx="4023360" cy="868680"/>
          </a:xfrm>
          <a:prstGeom prst="roundRect">
            <a:avLst>
              <a:gd name="adj" fmla="val 10526"/>
            </a:avLst>
          </a:prstGeom>
          <a:solidFill>
            <a:srgbClr val="064E3B"/>
          </a:solidFill>
          <a:ln w="12700">
            <a:solidFill>
              <a:srgbClr val="059669"/>
            </a:solidFill>
            <a:prstDash val="solid"/>
          </a:ln>
        </p:spPr>
      </p:sp>
      <p:sp>
        <p:nvSpPr>
          <p:cNvPr id="19" name="Text 17"/>
          <p:cNvSpPr/>
          <p:nvPr/>
        </p:nvSpPr>
        <p:spPr>
          <a:xfrm>
            <a:off x="7589520" y="2834640"/>
            <a:ext cx="3657600" cy="640080"/>
          </a:xfrm>
          <a:prstGeom prst="rect">
            <a:avLst/>
          </a:prstGeom>
          <a:noFill/>
          <a:ln/>
        </p:spPr>
        <p:txBody>
          <a:bodyPr wrap="square" rtlCol="0" anchor="ctr"/>
          <a:lstStyle/>
          <a:p>
            <a:pPr indent="0" marL="0">
              <a:buNone/>
            </a:pPr>
            <a:r>
              <a:rPr lang="en-US" sz="1000" b="1" dirty="0">
                <a:solidFill>
                  <a:srgbClr val="A7F3D0"/>
                </a:solidFill>
                <a:latin typeface="Arial" pitchFamily="34" charset="0"/>
                <a:ea typeface="Arial" pitchFamily="34" charset="-122"/>
                <a:cs typeface="Arial" pitchFamily="34" charset="-120"/>
              </a:rPr>
              <a:t>Native support for Hindi, Marathi, Malayalam &amp; Assamese with generic INN mapping</a:t>
            </a:r>
            <a:endParaRPr lang="en-US" sz="1000" dirty="0"/>
          </a:p>
        </p:txBody>
      </p:sp>
      <p:sp>
        <p:nvSpPr>
          <p:cNvPr id="20" name="Shape 18"/>
          <p:cNvSpPr/>
          <p:nvPr/>
        </p:nvSpPr>
        <p:spPr>
          <a:xfrm>
            <a:off x="731520" y="3749040"/>
            <a:ext cx="2560320" cy="868680"/>
          </a:xfrm>
          <a:prstGeom prst="roundRect">
            <a:avLst>
              <a:gd name="adj" fmla="val 10526"/>
            </a:avLst>
          </a:prstGeom>
          <a:solidFill>
            <a:srgbClr val="1E293B"/>
          </a:solidFill>
          <a:ln w="12700">
            <a:solidFill>
              <a:srgbClr val="334155"/>
            </a:solidFill>
            <a:prstDash val="solid"/>
          </a:ln>
        </p:spPr>
      </p:sp>
      <p:sp>
        <p:nvSpPr>
          <p:cNvPr id="21" name="Text 19"/>
          <p:cNvSpPr/>
          <p:nvPr/>
        </p:nvSpPr>
        <p:spPr>
          <a:xfrm>
            <a:off x="914400" y="4023360"/>
            <a:ext cx="219456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Time Horizon</a:t>
            </a:r>
            <a:endParaRPr lang="en-US" sz="1200" dirty="0"/>
          </a:p>
        </p:txBody>
      </p:sp>
      <p:sp>
        <p:nvSpPr>
          <p:cNvPr id="22" name="Shape 20"/>
          <p:cNvSpPr/>
          <p:nvPr/>
        </p:nvSpPr>
        <p:spPr>
          <a:xfrm>
            <a:off x="3474720" y="3749040"/>
            <a:ext cx="3749040" cy="868680"/>
          </a:xfrm>
          <a:prstGeom prst="roundRect">
            <a:avLst>
              <a:gd name="adj" fmla="val 10526"/>
            </a:avLst>
          </a:prstGeom>
          <a:solidFill>
            <a:srgbClr val="1E1B2E"/>
          </a:solidFill>
          <a:ln w="12700">
            <a:solidFill>
              <a:srgbClr val="4C1D95"/>
            </a:solidFill>
            <a:prstDash val="solid"/>
          </a:ln>
        </p:spPr>
      </p:sp>
      <p:sp>
        <p:nvSpPr>
          <p:cNvPr id="23" name="Text 21"/>
          <p:cNvSpPr/>
          <p:nvPr/>
        </p:nvSpPr>
        <p:spPr>
          <a:xfrm>
            <a:off x="3657600" y="3886200"/>
            <a:ext cx="3383280" cy="640080"/>
          </a:xfrm>
          <a:prstGeom prst="rect">
            <a:avLst/>
          </a:prstGeom>
          <a:noFill/>
          <a:ln/>
        </p:spPr>
        <p:txBody>
          <a:bodyPr wrap="square" rtlCol="0" anchor="ctr"/>
          <a:lstStyle/>
          <a:p>
            <a:pPr indent="0" marL="0">
              <a:buNone/>
            </a:pPr>
            <a:r>
              <a:rPr lang="en-US" sz="1000" dirty="0">
                <a:solidFill>
                  <a:srgbClr val="D8B4FE"/>
                </a:solidFill>
                <a:latin typeface="Arial" pitchFamily="34" charset="0"/>
                <a:ea typeface="Arial" pitchFamily="34" charset="-122"/>
                <a:cs typeface="Arial" pitchFamily="34" charset="-120"/>
              </a:rPr>
              <a:t>Purely historical recording of what was dispensed weeks ago</a:t>
            </a:r>
            <a:endParaRPr lang="en-US" sz="1000" dirty="0"/>
          </a:p>
        </p:txBody>
      </p:sp>
      <p:sp>
        <p:nvSpPr>
          <p:cNvPr id="24" name="Shape 22"/>
          <p:cNvSpPr/>
          <p:nvPr/>
        </p:nvSpPr>
        <p:spPr>
          <a:xfrm>
            <a:off x="7406640" y="3749040"/>
            <a:ext cx="4023360" cy="868680"/>
          </a:xfrm>
          <a:prstGeom prst="roundRect">
            <a:avLst>
              <a:gd name="adj" fmla="val 10526"/>
            </a:avLst>
          </a:prstGeom>
          <a:solidFill>
            <a:srgbClr val="064E3B"/>
          </a:solidFill>
          <a:ln w="12700">
            <a:solidFill>
              <a:srgbClr val="059669"/>
            </a:solidFill>
            <a:prstDash val="solid"/>
          </a:ln>
        </p:spPr>
      </p:sp>
      <p:sp>
        <p:nvSpPr>
          <p:cNvPr id="25" name="Text 23"/>
          <p:cNvSpPr/>
          <p:nvPr/>
        </p:nvSpPr>
        <p:spPr>
          <a:xfrm>
            <a:off x="7589520" y="3886200"/>
            <a:ext cx="3657600" cy="640080"/>
          </a:xfrm>
          <a:prstGeom prst="rect">
            <a:avLst/>
          </a:prstGeom>
          <a:noFill/>
          <a:ln/>
        </p:spPr>
        <p:txBody>
          <a:bodyPr wrap="square" rtlCol="0" anchor="ctr"/>
          <a:lstStyle/>
          <a:p>
            <a:pPr indent="0" marL="0">
              <a:buNone/>
            </a:pPr>
            <a:r>
              <a:rPr lang="en-US" sz="1000" b="1" dirty="0">
                <a:solidFill>
                  <a:srgbClr val="A7F3D0"/>
                </a:solidFill>
                <a:latin typeface="Arial" pitchFamily="34" charset="0"/>
                <a:ea typeface="Arial" pitchFamily="34" charset="-122"/>
                <a:cs typeface="Arial" pitchFamily="34" charset="-120"/>
              </a:rPr>
              <a:t>Predictive BigQuery ML ARIMA+ forecasting outbreak spikes 14 days in advance</a:t>
            </a:r>
            <a:endParaRPr lang="en-US" sz="1000" dirty="0"/>
          </a:p>
        </p:txBody>
      </p:sp>
      <p:sp>
        <p:nvSpPr>
          <p:cNvPr id="26" name="Shape 24"/>
          <p:cNvSpPr/>
          <p:nvPr/>
        </p:nvSpPr>
        <p:spPr>
          <a:xfrm>
            <a:off x="731520" y="4800600"/>
            <a:ext cx="2560320" cy="868680"/>
          </a:xfrm>
          <a:prstGeom prst="roundRect">
            <a:avLst>
              <a:gd name="adj" fmla="val 10526"/>
            </a:avLst>
          </a:prstGeom>
          <a:solidFill>
            <a:srgbClr val="1E293B"/>
          </a:solidFill>
          <a:ln w="12700">
            <a:solidFill>
              <a:srgbClr val="334155"/>
            </a:solidFill>
            <a:prstDash val="solid"/>
          </a:ln>
        </p:spPr>
      </p:sp>
      <p:sp>
        <p:nvSpPr>
          <p:cNvPr id="27" name="Text 25"/>
          <p:cNvSpPr/>
          <p:nvPr/>
        </p:nvSpPr>
        <p:spPr>
          <a:xfrm>
            <a:off x="914400" y="5074920"/>
            <a:ext cx="219456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Redistribution</a:t>
            </a:r>
            <a:endParaRPr lang="en-US" sz="1200" dirty="0"/>
          </a:p>
        </p:txBody>
      </p:sp>
      <p:sp>
        <p:nvSpPr>
          <p:cNvPr id="28" name="Shape 26"/>
          <p:cNvSpPr/>
          <p:nvPr/>
        </p:nvSpPr>
        <p:spPr>
          <a:xfrm>
            <a:off x="3474720" y="4800600"/>
            <a:ext cx="3749040" cy="868680"/>
          </a:xfrm>
          <a:prstGeom prst="roundRect">
            <a:avLst>
              <a:gd name="adj" fmla="val 10526"/>
            </a:avLst>
          </a:prstGeom>
          <a:solidFill>
            <a:srgbClr val="1E1B2E"/>
          </a:solidFill>
          <a:ln w="12700">
            <a:solidFill>
              <a:srgbClr val="4C1D95"/>
            </a:solidFill>
            <a:prstDash val="solid"/>
          </a:ln>
        </p:spPr>
      </p:sp>
      <p:sp>
        <p:nvSpPr>
          <p:cNvPr id="29" name="Text 27"/>
          <p:cNvSpPr/>
          <p:nvPr/>
        </p:nvSpPr>
        <p:spPr>
          <a:xfrm>
            <a:off x="3657600" y="4937760"/>
            <a:ext cx="3383280" cy="640080"/>
          </a:xfrm>
          <a:prstGeom prst="rect">
            <a:avLst/>
          </a:prstGeom>
          <a:noFill/>
          <a:ln/>
        </p:spPr>
        <p:txBody>
          <a:bodyPr wrap="square" rtlCol="0" anchor="ctr"/>
          <a:lstStyle/>
          <a:p>
            <a:pPr indent="0" marL="0">
              <a:buNone/>
            </a:pPr>
            <a:r>
              <a:rPr lang="en-US" sz="1000" dirty="0">
                <a:solidFill>
                  <a:srgbClr val="D8B4FE"/>
                </a:solidFill>
                <a:latin typeface="Arial" pitchFamily="34" charset="0"/>
                <a:ea typeface="Arial" pitchFamily="34" charset="-122"/>
                <a:cs typeface="Arial" pitchFamily="34" charset="-120"/>
              </a:rPr>
              <a:t>Zero cross-facility visibility; relies on manual phone escalation during crises</a:t>
            </a:r>
            <a:endParaRPr lang="en-US" sz="1000" dirty="0"/>
          </a:p>
        </p:txBody>
      </p:sp>
      <p:sp>
        <p:nvSpPr>
          <p:cNvPr id="30" name="Shape 28"/>
          <p:cNvSpPr/>
          <p:nvPr/>
        </p:nvSpPr>
        <p:spPr>
          <a:xfrm>
            <a:off x="7406640" y="4800600"/>
            <a:ext cx="4023360" cy="868680"/>
          </a:xfrm>
          <a:prstGeom prst="roundRect">
            <a:avLst>
              <a:gd name="adj" fmla="val 10526"/>
            </a:avLst>
          </a:prstGeom>
          <a:solidFill>
            <a:srgbClr val="064E3B"/>
          </a:solidFill>
          <a:ln w="12700">
            <a:solidFill>
              <a:srgbClr val="059669"/>
            </a:solidFill>
            <a:prstDash val="solid"/>
          </a:ln>
        </p:spPr>
      </p:sp>
      <p:sp>
        <p:nvSpPr>
          <p:cNvPr id="31" name="Text 29"/>
          <p:cNvSpPr/>
          <p:nvPr/>
        </p:nvSpPr>
        <p:spPr>
          <a:xfrm>
            <a:off x="7589520" y="4937760"/>
            <a:ext cx="3657600" cy="640080"/>
          </a:xfrm>
          <a:prstGeom prst="rect">
            <a:avLst/>
          </a:prstGeom>
          <a:noFill/>
          <a:ln/>
        </p:spPr>
        <p:txBody>
          <a:bodyPr wrap="square" rtlCol="0" anchor="ctr"/>
          <a:lstStyle/>
          <a:p>
            <a:pPr indent="0" marL="0">
              <a:buNone/>
            </a:pPr>
            <a:r>
              <a:rPr lang="en-US" sz="1000" b="1" dirty="0">
                <a:solidFill>
                  <a:srgbClr val="A7F3D0"/>
                </a:solidFill>
                <a:latin typeface="Arial" pitchFamily="34" charset="0"/>
                <a:ea typeface="Arial" pitchFamily="34" charset="-122"/>
                <a:cs typeface="Arial" pitchFamily="34" charset="-120"/>
              </a:rPr>
              <a:t>Algorithmic road routing matches shortage clinics with surplus expiring depots</a:t>
            </a:r>
            <a:endParaRPr lang="en-US" sz="1000" dirty="0"/>
          </a:p>
        </p:txBody>
      </p:sp>
      <p:sp>
        <p:nvSpPr>
          <p:cNvPr id="32" name="Shape 30"/>
          <p:cNvSpPr/>
          <p:nvPr/>
        </p:nvSpPr>
        <p:spPr>
          <a:xfrm>
            <a:off x="731520" y="5257800"/>
            <a:ext cx="10698480" cy="731520"/>
          </a:xfrm>
          <a:prstGeom prst="roundRect">
            <a:avLst>
              <a:gd name="adj" fmla="val 12500"/>
            </a:avLst>
          </a:prstGeom>
          <a:solidFill>
            <a:srgbClr val="1E293B"/>
          </a:solidFill>
          <a:ln w="12700">
            <a:solidFill>
              <a:srgbClr val="0F766E"/>
            </a:solidFill>
            <a:prstDash val="solid"/>
          </a:ln>
        </p:spPr>
      </p:sp>
      <p:sp>
        <p:nvSpPr>
          <p:cNvPr id="33" name="Text 31"/>
          <p:cNvSpPr/>
          <p:nvPr/>
        </p:nvSpPr>
        <p:spPr>
          <a:xfrm>
            <a:off x="914400" y="5349240"/>
            <a:ext cx="10332720" cy="548640"/>
          </a:xfrm>
          <a:prstGeom prst="rect">
            <a:avLst/>
          </a:prstGeom>
          <a:noFill/>
          <a:ln/>
        </p:spPr>
        <p:txBody>
          <a:bodyPr wrap="square" rtlCol="0" anchor="ctr"/>
          <a:lstStyle/>
          <a:p>
            <a:pPr indent="0" marL="0">
              <a:buNone/>
            </a:pPr>
            <a:r>
              <a:rPr lang="en-US" sz="1050" b="1" dirty="0">
                <a:solidFill>
                  <a:srgbClr val="14B8A6"/>
                </a:solidFill>
                <a:latin typeface="Arial" pitchFamily="34" charset="0"/>
                <a:ea typeface="Arial" pitchFamily="34" charset="-122"/>
                <a:cs typeface="Arial" pitchFamily="34" charset="-120"/>
              </a:rPr>
              <a:t>Frontline Principle: A system that forces a rural nurse to type 50 serial numbers into a slow portal will be abandoned. A system that listens to a 20-second voice note will be used every single day.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THE SOLUTION  |  SLIDE 4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PHC Pulse: End-to-End Co-Pilot Architecture</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Frictionless Multimodal Ingestion + Grounded Intelligence + Human-in-the-Loop Redistribution</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4</a:t>
            </a:r>
            <a:endParaRPr lang="en-US" sz="900" dirty="0"/>
          </a:p>
        </p:txBody>
      </p:sp>
      <p:sp>
        <p:nvSpPr>
          <p:cNvPr id="8" name="Shape 6"/>
          <p:cNvSpPr/>
          <p:nvPr/>
        </p:nvSpPr>
        <p:spPr>
          <a:xfrm>
            <a:off x="731520" y="1645920"/>
            <a:ext cx="3383280" cy="4297680"/>
          </a:xfrm>
          <a:prstGeom prst="roundRect">
            <a:avLst>
              <a:gd name="adj" fmla="val 4054"/>
            </a:avLst>
          </a:prstGeom>
          <a:solidFill>
            <a:srgbClr val="1E293B"/>
          </a:solidFill>
          <a:ln w="12700">
            <a:solidFill>
              <a:srgbClr val="334155"/>
            </a:solidFill>
            <a:prstDash val="solid"/>
          </a:ln>
        </p:spPr>
      </p:sp>
      <p:sp>
        <p:nvSpPr>
          <p:cNvPr id="9" name="Text 7"/>
          <p:cNvSpPr/>
          <p:nvPr/>
        </p:nvSpPr>
        <p:spPr>
          <a:xfrm>
            <a:off x="1005840" y="1920240"/>
            <a:ext cx="2834640" cy="365760"/>
          </a:xfrm>
          <a:prstGeom prst="rect">
            <a:avLst/>
          </a:prstGeom>
          <a:noFill/>
          <a:ln/>
        </p:spPr>
        <p:txBody>
          <a:bodyPr wrap="square" rtlCol="0" anchor="ctr"/>
          <a:lstStyle/>
          <a:p>
            <a:pPr indent="0" marL="0">
              <a:buNone/>
            </a:pPr>
            <a:r>
              <a:rPr lang="en-US" sz="2200" b="1" dirty="0">
                <a:solidFill>
                  <a:srgbClr val="14B8A6"/>
                </a:solidFill>
                <a:latin typeface="Arial" pitchFamily="34" charset="0"/>
                <a:ea typeface="Arial" pitchFamily="34" charset="-122"/>
                <a:cs typeface="Arial" pitchFamily="34" charset="-120"/>
              </a:rPr>
              <a:t>01</a:t>
            </a:r>
            <a:endParaRPr lang="en-US" sz="2200" dirty="0"/>
          </a:p>
        </p:txBody>
      </p:sp>
      <p:sp>
        <p:nvSpPr>
          <p:cNvPr id="10" name="Text 8"/>
          <p:cNvSpPr/>
          <p:nvPr/>
        </p:nvSpPr>
        <p:spPr>
          <a:xfrm>
            <a:off x="1005840" y="2423160"/>
            <a:ext cx="28346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Multimodal Register Digitization</a:t>
            </a:r>
            <a:endParaRPr lang="en-US" sz="1300" dirty="0"/>
          </a:p>
        </p:txBody>
      </p:sp>
      <p:sp>
        <p:nvSpPr>
          <p:cNvPr id="11" name="Text 9"/>
          <p:cNvSpPr/>
          <p:nvPr/>
        </p:nvSpPr>
        <p:spPr>
          <a:xfrm>
            <a:off x="1005840" y="3063240"/>
            <a:ext cx="2834640" cy="1645920"/>
          </a:xfrm>
          <a:prstGeom prst="rect">
            <a:avLst/>
          </a:prstGeom>
          <a:noFill/>
          <a:ln/>
        </p:spPr>
        <p:txBody>
          <a:bodyPr wrap="square" rtlCol="0" anchor="ctr"/>
          <a:lstStyle/>
          <a:p>
            <a:pPr indent="0" marL="0">
              <a:lnSpc>
                <a:spcPts val="1400"/>
              </a:lnSpc>
              <a:buNone/>
            </a:pPr>
            <a:r>
              <a:rPr lang="en-US" sz="1050" dirty="0">
                <a:solidFill>
                  <a:srgbClr val="E2E8F0"/>
                </a:solidFill>
                <a:latin typeface="Arial" pitchFamily="34" charset="0"/>
                <a:ea typeface="Arial" pitchFamily="34" charset="-122"/>
                <a:cs typeface="Arial" pitchFamily="34" charset="-120"/>
              </a:rPr>
              <a:t>Converts photos of handwritten stock logs, voice dispatches in regional dialects, and messy SMS dispatches into verified structured records in &lt;2.5s.</a:t>
            </a:r>
            <a:endParaRPr lang="en-US" sz="1050" dirty="0"/>
          </a:p>
        </p:txBody>
      </p:sp>
      <p:sp>
        <p:nvSpPr>
          <p:cNvPr id="12" name="Shape 10"/>
          <p:cNvSpPr/>
          <p:nvPr/>
        </p:nvSpPr>
        <p:spPr>
          <a:xfrm>
            <a:off x="960120" y="5120640"/>
            <a:ext cx="2926080" cy="594360"/>
          </a:xfrm>
          <a:prstGeom prst="roundRect">
            <a:avLst>
              <a:gd name="adj" fmla="val 15385"/>
            </a:avLst>
          </a:prstGeom>
          <a:solidFill>
            <a:srgbClr val="0F172A"/>
          </a:solidFill>
          <a:ln w="12700">
            <a:solidFill>
              <a:srgbClr val="0F766E"/>
            </a:solidFill>
            <a:prstDash val="solid"/>
          </a:ln>
        </p:spPr>
      </p:sp>
      <p:sp>
        <p:nvSpPr>
          <p:cNvPr id="13" name="Text 11"/>
          <p:cNvSpPr/>
          <p:nvPr/>
        </p:nvSpPr>
        <p:spPr>
          <a:xfrm>
            <a:off x="1051560" y="5257800"/>
            <a:ext cx="2743200" cy="365760"/>
          </a:xfrm>
          <a:prstGeom prst="rect">
            <a:avLst/>
          </a:prstGeom>
          <a:noFill/>
          <a:ln/>
        </p:spPr>
        <p:txBody>
          <a:bodyPr wrap="square" rtlCol="0" anchor="ctr"/>
          <a:lstStyle/>
          <a:p>
            <a:pPr indent="0" marL="0">
              <a:buNone/>
            </a:pPr>
            <a:r>
              <a:rPr lang="en-US" sz="950" b="1" dirty="0">
                <a:solidFill>
                  <a:srgbClr val="14B8A6"/>
                </a:solidFill>
                <a:latin typeface="Arial" pitchFamily="34" charset="0"/>
                <a:ea typeface="Arial" pitchFamily="34" charset="-122"/>
                <a:cs typeface="Arial" pitchFamily="34" charset="-120"/>
              </a:rPr>
              <a:t>Auto INN normalization &amp; PII scrubbing</a:t>
            </a:r>
            <a:endParaRPr lang="en-US" sz="950" dirty="0"/>
          </a:p>
        </p:txBody>
      </p:sp>
      <p:sp>
        <p:nvSpPr>
          <p:cNvPr id="14" name="Shape 12"/>
          <p:cNvSpPr/>
          <p:nvPr/>
        </p:nvSpPr>
        <p:spPr>
          <a:xfrm>
            <a:off x="4389120" y="1645920"/>
            <a:ext cx="3383280" cy="4297680"/>
          </a:xfrm>
          <a:prstGeom prst="roundRect">
            <a:avLst>
              <a:gd name="adj" fmla="val 4054"/>
            </a:avLst>
          </a:prstGeom>
          <a:solidFill>
            <a:srgbClr val="1E293B"/>
          </a:solidFill>
          <a:ln w="12700">
            <a:solidFill>
              <a:srgbClr val="334155"/>
            </a:solidFill>
            <a:prstDash val="solid"/>
          </a:ln>
        </p:spPr>
      </p:sp>
      <p:sp>
        <p:nvSpPr>
          <p:cNvPr id="15" name="Text 13"/>
          <p:cNvSpPr/>
          <p:nvPr/>
        </p:nvSpPr>
        <p:spPr>
          <a:xfrm>
            <a:off x="4663440" y="1920240"/>
            <a:ext cx="2834640" cy="365760"/>
          </a:xfrm>
          <a:prstGeom prst="rect">
            <a:avLst/>
          </a:prstGeom>
          <a:noFill/>
          <a:ln/>
        </p:spPr>
        <p:txBody>
          <a:bodyPr wrap="square" rtlCol="0" anchor="ctr"/>
          <a:lstStyle/>
          <a:p>
            <a:pPr indent="0" marL="0">
              <a:buNone/>
            </a:pPr>
            <a:r>
              <a:rPr lang="en-US" sz="2200" b="1" dirty="0">
                <a:solidFill>
                  <a:srgbClr val="14B8A6"/>
                </a:solidFill>
                <a:latin typeface="Arial" pitchFamily="34" charset="0"/>
                <a:ea typeface="Arial" pitchFamily="34" charset="-122"/>
                <a:cs typeface="Arial" pitchFamily="34" charset="-120"/>
              </a:rPr>
              <a:t>02</a:t>
            </a:r>
            <a:endParaRPr lang="en-US" sz="2200" dirty="0"/>
          </a:p>
        </p:txBody>
      </p:sp>
      <p:sp>
        <p:nvSpPr>
          <p:cNvPr id="16" name="Text 14"/>
          <p:cNvSpPr/>
          <p:nvPr/>
        </p:nvSpPr>
        <p:spPr>
          <a:xfrm>
            <a:off x="4663440" y="2423160"/>
            <a:ext cx="28346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Grounded Q&amp;A &amp; Copilot</a:t>
            </a:r>
            <a:endParaRPr lang="en-US" sz="1300" dirty="0"/>
          </a:p>
        </p:txBody>
      </p:sp>
      <p:sp>
        <p:nvSpPr>
          <p:cNvPr id="17" name="Text 15"/>
          <p:cNvSpPr/>
          <p:nvPr/>
        </p:nvSpPr>
        <p:spPr>
          <a:xfrm>
            <a:off x="4663440" y="3063240"/>
            <a:ext cx="2834640" cy="1645920"/>
          </a:xfrm>
          <a:prstGeom prst="rect">
            <a:avLst/>
          </a:prstGeom>
          <a:noFill/>
          <a:ln/>
        </p:spPr>
        <p:txBody>
          <a:bodyPr wrap="square" rtlCol="0" anchor="ctr"/>
          <a:lstStyle/>
          <a:p>
            <a:pPr indent="0" marL="0">
              <a:lnSpc>
                <a:spcPts val="1400"/>
              </a:lnSpc>
              <a:buNone/>
            </a:pPr>
            <a:r>
              <a:rPr lang="en-US" sz="1050" dirty="0">
                <a:solidFill>
                  <a:srgbClr val="E2E8F0"/>
                </a:solidFill>
                <a:latin typeface="Arial" pitchFamily="34" charset="0"/>
                <a:ea typeface="Arial" pitchFamily="34" charset="-122"/>
                <a:cs typeface="Arial" pitchFamily="34" charset="-120"/>
              </a:rPr>
              <a:t>Answers complex inventory questions (Days of Cover, risk bands) using strictly verified context with officer access scoping.</a:t>
            </a:r>
            <a:endParaRPr lang="en-US" sz="1050" dirty="0"/>
          </a:p>
        </p:txBody>
      </p:sp>
      <p:sp>
        <p:nvSpPr>
          <p:cNvPr id="18" name="Shape 16"/>
          <p:cNvSpPr/>
          <p:nvPr/>
        </p:nvSpPr>
        <p:spPr>
          <a:xfrm>
            <a:off x="4617720" y="5120640"/>
            <a:ext cx="2926080" cy="594360"/>
          </a:xfrm>
          <a:prstGeom prst="roundRect">
            <a:avLst>
              <a:gd name="adj" fmla="val 15385"/>
            </a:avLst>
          </a:prstGeom>
          <a:solidFill>
            <a:srgbClr val="0F172A"/>
          </a:solidFill>
          <a:ln w="12700">
            <a:solidFill>
              <a:srgbClr val="0F766E"/>
            </a:solidFill>
            <a:prstDash val="solid"/>
          </a:ln>
        </p:spPr>
      </p:sp>
      <p:sp>
        <p:nvSpPr>
          <p:cNvPr id="19" name="Text 17"/>
          <p:cNvSpPr/>
          <p:nvPr/>
        </p:nvSpPr>
        <p:spPr>
          <a:xfrm>
            <a:off x="4709160" y="5257800"/>
            <a:ext cx="2743200" cy="365760"/>
          </a:xfrm>
          <a:prstGeom prst="rect">
            <a:avLst/>
          </a:prstGeom>
          <a:noFill/>
          <a:ln/>
        </p:spPr>
        <p:txBody>
          <a:bodyPr wrap="square" rtlCol="0" anchor="ctr"/>
          <a:lstStyle/>
          <a:p>
            <a:pPr indent="0" marL="0">
              <a:buNone/>
            </a:pPr>
            <a:r>
              <a:rPr lang="en-US" sz="950" b="1" dirty="0">
                <a:solidFill>
                  <a:srgbClr val="14B8A6"/>
                </a:solidFill>
                <a:latin typeface="Arial" pitchFamily="34" charset="0"/>
                <a:ea typeface="Arial" pitchFamily="34" charset="-122"/>
                <a:cs typeface="Arial" pitchFamily="34" charset="-120"/>
              </a:rPr>
              <a:t>Zero hallucination, deterministic JSON</a:t>
            </a:r>
            <a:endParaRPr lang="en-US" sz="950" dirty="0"/>
          </a:p>
        </p:txBody>
      </p:sp>
      <p:sp>
        <p:nvSpPr>
          <p:cNvPr id="20" name="Shape 18"/>
          <p:cNvSpPr/>
          <p:nvPr/>
        </p:nvSpPr>
        <p:spPr>
          <a:xfrm>
            <a:off x="8046720" y="1645920"/>
            <a:ext cx="3383280" cy="4297680"/>
          </a:xfrm>
          <a:prstGeom prst="roundRect">
            <a:avLst>
              <a:gd name="adj" fmla="val 4054"/>
            </a:avLst>
          </a:prstGeom>
          <a:solidFill>
            <a:srgbClr val="1E293B"/>
          </a:solidFill>
          <a:ln w="12700">
            <a:solidFill>
              <a:srgbClr val="334155"/>
            </a:solidFill>
            <a:prstDash val="solid"/>
          </a:ln>
        </p:spPr>
      </p:sp>
      <p:sp>
        <p:nvSpPr>
          <p:cNvPr id="21" name="Text 19"/>
          <p:cNvSpPr/>
          <p:nvPr/>
        </p:nvSpPr>
        <p:spPr>
          <a:xfrm>
            <a:off x="8321040" y="1920240"/>
            <a:ext cx="2834640" cy="365760"/>
          </a:xfrm>
          <a:prstGeom prst="rect">
            <a:avLst/>
          </a:prstGeom>
          <a:noFill/>
          <a:ln/>
        </p:spPr>
        <p:txBody>
          <a:bodyPr wrap="square" rtlCol="0" anchor="ctr"/>
          <a:lstStyle/>
          <a:p>
            <a:pPr indent="0" marL="0">
              <a:buNone/>
            </a:pPr>
            <a:r>
              <a:rPr lang="en-US" sz="2200" b="1" dirty="0">
                <a:solidFill>
                  <a:srgbClr val="14B8A6"/>
                </a:solidFill>
                <a:latin typeface="Arial" pitchFamily="34" charset="0"/>
                <a:ea typeface="Arial" pitchFamily="34" charset="-122"/>
                <a:cs typeface="Arial" pitchFamily="34" charset="-120"/>
              </a:rPr>
              <a:t>03</a:t>
            </a:r>
            <a:endParaRPr lang="en-US" sz="2200" dirty="0"/>
          </a:p>
        </p:txBody>
      </p:sp>
      <p:sp>
        <p:nvSpPr>
          <p:cNvPr id="22" name="Text 20"/>
          <p:cNvSpPr/>
          <p:nvPr/>
        </p:nvSpPr>
        <p:spPr>
          <a:xfrm>
            <a:off x="8321040" y="2423160"/>
            <a:ext cx="28346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Human-in-the-Loop Redistribution</a:t>
            </a:r>
            <a:endParaRPr lang="en-US" sz="1300" dirty="0"/>
          </a:p>
        </p:txBody>
      </p:sp>
      <p:sp>
        <p:nvSpPr>
          <p:cNvPr id="23" name="Text 21"/>
          <p:cNvSpPr/>
          <p:nvPr/>
        </p:nvSpPr>
        <p:spPr>
          <a:xfrm>
            <a:off x="8321040" y="3063240"/>
            <a:ext cx="2834640" cy="1645920"/>
          </a:xfrm>
          <a:prstGeom prst="rect">
            <a:avLst/>
          </a:prstGeom>
          <a:noFill/>
          <a:ln/>
        </p:spPr>
        <p:txBody>
          <a:bodyPr wrap="square" rtlCol="0" anchor="ctr"/>
          <a:lstStyle/>
          <a:p>
            <a:pPr indent="0" marL="0">
              <a:lnSpc>
                <a:spcPts val="1400"/>
              </a:lnSpc>
              <a:buNone/>
            </a:pPr>
            <a:r>
              <a:rPr lang="en-US" sz="1050" dirty="0">
                <a:solidFill>
                  <a:srgbClr val="E2E8F0"/>
                </a:solidFill>
                <a:latin typeface="Arial" pitchFamily="34" charset="0"/>
                <a:ea typeface="Arial" pitchFamily="34" charset="-122"/>
                <a:cs typeface="Arial" pitchFamily="34" charset="-120"/>
              </a:rPr>
              <a:t>Generates optimal intra-state transfer orders with 1-line rationales pairing deficit clinics with near-expiry surplus depots.</a:t>
            </a:r>
            <a:endParaRPr lang="en-US" sz="1050" dirty="0"/>
          </a:p>
        </p:txBody>
      </p:sp>
      <p:sp>
        <p:nvSpPr>
          <p:cNvPr id="24" name="Shape 22"/>
          <p:cNvSpPr/>
          <p:nvPr/>
        </p:nvSpPr>
        <p:spPr>
          <a:xfrm>
            <a:off x="8275320" y="5120640"/>
            <a:ext cx="2926080" cy="594360"/>
          </a:xfrm>
          <a:prstGeom prst="roundRect">
            <a:avLst>
              <a:gd name="adj" fmla="val 15385"/>
            </a:avLst>
          </a:prstGeom>
          <a:solidFill>
            <a:srgbClr val="0F172A"/>
          </a:solidFill>
          <a:ln w="12700">
            <a:solidFill>
              <a:srgbClr val="0F766E"/>
            </a:solidFill>
            <a:prstDash val="solid"/>
          </a:ln>
        </p:spPr>
      </p:sp>
      <p:sp>
        <p:nvSpPr>
          <p:cNvPr id="25" name="Text 23"/>
          <p:cNvSpPr/>
          <p:nvPr/>
        </p:nvSpPr>
        <p:spPr>
          <a:xfrm>
            <a:off x="8366760" y="5257800"/>
            <a:ext cx="2743200" cy="365760"/>
          </a:xfrm>
          <a:prstGeom prst="rect">
            <a:avLst/>
          </a:prstGeom>
          <a:noFill/>
          <a:ln/>
        </p:spPr>
        <p:txBody>
          <a:bodyPr wrap="square" rtlCol="0" anchor="ctr"/>
          <a:lstStyle/>
          <a:p>
            <a:pPr indent="0" marL="0">
              <a:buNone/>
            </a:pPr>
            <a:r>
              <a:rPr lang="en-US" sz="950" b="1" dirty="0">
                <a:solidFill>
                  <a:srgbClr val="14B8A6"/>
                </a:solidFill>
                <a:latin typeface="Arial" pitchFamily="34" charset="0"/>
                <a:ea typeface="Arial" pitchFamily="34" charset="-122"/>
                <a:cs typeface="Arial" pitchFamily="34" charset="-120"/>
              </a:rPr>
              <a:t>Requires explicit CMO approval before dispatch</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AI ARCHITECTURE  |  SLIDE 5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Multimodal AI &amp; Zero-Hallucination Parsing</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Google Gemini 3.8 Flash with Strict Schema Enforcement &amp; Privacy Scrubbing</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5</a:t>
            </a:r>
            <a:endParaRPr lang="en-US" sz="900" dirty="0"/>
          </a:p>
        </p:txBody>
      </p:sp>
      <p:sp>
        <p:nvSpPr>
          <p:cNvPr id="8" name="Shape 6"/>
          <p:cNvSpPr/>
          <p:nvPr/>
        </p:nvSpPr>
        <p:spPr>
          <a:xfrm>
            <a:off x="731520" y="1645920"/>
            <a:ext cx="6858000" cy="1234440"/>
          </a:xfrm>
          <a:prstGeom prst="roundRect">
            <a:avLst>
              <a:gd name="adj" fmla="val 7407"/>
            </a:avLst>
          </a:prstGeom>
          <a:solidFill>
            <a:srgbClr val="1E293B"/>
          </a:solidFill>
          <a:ln w="12700">
            <a:solidFill>
              <a:srgbClr val="334155"/>
            </a:solidFill>
            <a:prstDash val="solid"/>
          </a:ln>
        </p:spPr>
      </p:sp>
      <p:sp>
        <p:nvSpPr>
          <p:cNvPr id="9" name="Text 7"/>
          <p:cNvSpPr/>
          <p:nvPr/>
        </p:nvSpPr>
        <p:spPr>
          <a:xfrm>
            <a:off x="1005840" y="1783080"/>
            <a:ext cx="6309360" cy="228600"/>
          </a:xfrm>
          <a:prstGeom prst="rect">
            <a:avLst/>
          </a:prstGeom>
          <a:noFill/>
          <a:ln/>
        </p:spPr>
        <p:txBody>
          <a:bodyPr wrap="square" rtlCol="0" anchor="ctr"/>
          <a:lstStyle/>
          <a:p>
            <a:pPr indent="0" marL="0">
              <a:buNone/>
            </a:pPr>
            <a:r>
              <a:rPr lang="en-US" sz="950" b="1" dirty="0">
                <a:solidFill>
                  <a:srgbClr val="14B8A6"/>
                </a:solidFill>
                <a:latin typeface="Arial" pitchFamily="34" charset="0"/>
                <a:ea typeface="Arial" pitchFamily="34" charset="-122"/>
                <a:cs typeface="Arial" pitchFamily="34" charset="-120"/>
              </a:rPr>
              <a:t>STRICT RULE 1: NO GUESSING</a:t>
            </a:r>
            <a:endParaRPr lang="en-US" sz="950" dirty="0"/>
          </a:p>
        </p:txBody>
      </p:sp>
      <p:sp>
        <p:nvSpPr>
          <p:cNvPr id="10" name="Text 8"/>
          <p:cNvSpPr/>
          <p:nvPr/>
        </p:nvSpPr>
        <p:spPr>
          <a:xfrm>
            <a:off x="1005840" y="2011680"/>
            <a:ext cx="630936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Zero Hallucination Guarantee</a:t>
            </a:r>
            <a:endParaRPr lang="en-US" sz="1200" dirty="0"/>
          </a:p>
        </p:txBody>
      </p:sp>
      <p:sp>
        <p:nvSpPr>
          <p:cNvPr id="11" name="Text 9"/>
          <p:cNvSpPr/>
          <p:nvPr/>
        </p:nvSpPr>
        <p:spPr>
          <a:xfrm>
            <a:off x="1005840" y="2286000"/>
            <a:ext cx="6309360" cy="50292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Missing quantities, unstated shelf lives, or blurry handwriting are assigned null and tagged with needs_review: true. The model never fabricates a stock number.</a:t>
            </a:r>
            <a:endParaRPr lang="en-US" sz="1000" dirty="0"/>
          </a:p>
        </p:txBody>
      </p:sp>
      <p:sp>
        <p:nvSpPr>
          <p:cNvPr id="12" name="Shape 10"/>
          <p:cNvSpPr/>
          <p:nvPr/>
        </p:nvSpPr>
        <p:spPr>
          <a:xfrm>
            <a:off x="731520" y="3063240"/>
            <a:ext cx="6858000" cy="1234440"/>
          </a:xfrm>
          <a:prstGeom prst="roundRect">
            <a:avLst>
              <a:gd name="adj" fmla="val 7407"/>
            </a:avLst>
          </a:prstGeom>
          <a:solidFill>
            <a:srgbClr val="1E293B"/>
          </a:solidFill>
          <a:ln w="12700">
            <a:solidFill>
              <a:srgbClr val="334155"/>
            </a:solidFill>
            <a:prstDash val="solid"/>
          </a:ln>
        </p:spPr>
      </p:sp>
      <p:sp>
        <p:nvSpPr>
          <p:cNvPr id="13" name="Text 11"/>
          <p:cNvSpPr/>
          <p:nvPr/>
        </p:nvSpPr>
        <p:spPr>
          <a:xfrm>
            <a:off x="1005840" y="3200400"/>
            <a:ext cx="6309360" cy="228600"/>
          </a:xfrm>
          <a:prstGeom prst="rect">
            <a:avLst/>
          </a:prstGeom>
          <a:noFill/>
          <a:ln/>
        </p:spPr>
        <p:txBody>
          <a:bodyPr wrap="square" rtlCol="0" anchor="ctr"/>
          <a:lstStyle/>
          <a:p>
            <a:pPr indent="0" marL="0">
              <a:buNone/>
            </a:pPr>
            <a:r>
              <a:rPr lang="en-US" sz="950" b="1" dirty="0">
                <a:solidFill>
                  <a:srgbClr val="14B8A6"/>
                </a:solidFill>
                <a:latin typeface="Arial" pitchFamily="34" charset="0"/>
                <a:ea typeface="Arial" pitchFamily="34" charset="-122"/>
                <a:cs typeface="Arial" pitchFamily="34" charset="-120"/>
              </a:rPr>
              <a:t>RULE 3 &amp; 4: NORMALIZATION</a:t>
            </a:r>
            <a:endParaRPr lang="en-US" sz="950" dirty="0"/>
          </a:p>
        </p:txBody>
      </p:sp>
      <p:sp>
        <p:nvSpPr>
          <p:cNvPr id="14" name="Text 12"/>
          <p:cNvSpPr/>
          <p:nvPr/>
        </p:nvSpPr>
        <p:spPr>
          <a:xfrm>
            <a:off x="1005840" y="3429000"/>
            <a:ext cx="630936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Generic INN &amp; ISO Standard Dates</a:t>
            </a:r>
            <a:endParaRPr lang="en-US" sz="1200" dirty="0"/>
          </a:p>
        </p:txBody>
      </p:sp>
      <p:sp>
        <p:nvSpPr>
          <p:cNvPr id="15" name="Text 13"/>
          <p:cNvSpPr/>
          <p:nvPr/>
        </p:nvSpPr>
        <p:spPr>
          <a:xfrm>
            <a:off x="1005840" y="3703320"/>
            <a:ext cx="6309360" cy="50292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Translates regional commercial brand names (e.g. 'Calpol 500', 'Dolo', 'पैरासिटामोल') to generic INN 'Paracetamol 500mg tab' and resolves ambiguous date formats (03/04/26).</a:t>
            </a:r>
            <a:endParaRPr lang="en-US" sz="1000" dirty="0"/>
          </a:p>
        </p:txBody>
      </p:sp>
      <p:sp>
        <p:nvSpPr>
          <p:cNvPr id="16" name="Shape 14"/>
          <p:cNvSpPr/>
          <p:nvPr/>
        </p:nvSpPr>
        <p:spPr>
          <a:xfrm>
            <a:off x="731520" y="4480560"/>
            <a:ext cx="6858000" cy="1234440"/>
          </a:xfrm>
          <a:prstGeom prst="roundRect">
            <a:avLst>
              <a:gd name="adj" fmla="val 7407"/>
            </a:avLst>
          </a:prstGeom>
          <a:solidFill>
            <a:srgbClr val="1E293B"/>
          </a:solidFill>
          <a:ln w="12700">
            <a:solidFill>
              <a:srgbClr val="334155"/>
            </a:solidFill>
            <a:prstDash val="solid"/>
          </a:ln>
        </p:spPr>
      </p:sp>
      <p:sp>
        <p:nvSpPr>
          <p:cNvPr id="17" name="Text 15"/>
          <p:cNvSpPr/>
          <p:nvPr/>
        </p:nvSpPr>
        <p:spPr>
          <a:xfrm>
            <a:off x="1005840" y="4617720"/>
            <a:ext cx="6309360" cy="228600"/>
          </a:xfrm>
          <a:prstGeom prst="rect">
            <a:avLst/>
          </a:prstGeom>
          <a:noFill/>
          <a:ln/>
        </p:spPr>
        <p:txBody>
          <a:bodyPr wrap="square" rtlCol="0" anchor="ctr"/>
          <a:lstStyle/>
          <a:p>
            <a:pPr indent="0" marL="0">
              <a:buNone/>
            </a:pPr>
            <a:r>
              <a:rPr lang="en-US" sz="950" b="1" dirty="0">
                <a:solidFill>
                  <a:srgbClr val="14B8A6"/>
                </a:solidFill>
                <a:latin typeface="Arial" pitchFamily="34" charset="0"/>
                <a:ea typeface="Arial" pitchFamily="34" charset="-122"/>
                <a:cs typeface="Arial" pitchFamily="34" charset="-120"/>
              </a:rPr>
              <a:t>STRICT RULE 7: SOVEREIGN PRIVACY</a:t>
            </a:r>
            <a:endParaRPr lang="en-US" sz="950" dirty="0"/>
          </a:p>
        </p:txBody>
      </p:sp>
      <p:sp>
        <p:nvSpPr>
          <p:cNvPr id="18" name="Text 16"/>
          <p:cNvSpPr/>
          <p:nvPr/>
        </p:nvSpPr>
        <p:spPr>
          <a:xfrm>
            <a:off x="1005840" y="4846320"/>
            <a:ext cx="630936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Automatic Patient PII Scrubbing</a:t>
            </a:r>
            <a:endParaRPr lang="en-US" sz="1200" dirty="0"/>
          </a:p>
        </p:txBody>
      </p:sp>
      <p:sp>
        <p:nvSpPr>
          <p:cNvPr id="19" name="Text 17"/>
          <p:cNvSpPr/>
          <p:nvPr/>
        </p:nvSpPr>
        <p:spPr>
          <a:xfrm>
            <a:off x="1005840" y="5120640"/>
            <a:ext cx="6309360" cy="50292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Detects confidential patient names, OPD slip tokens, and personal diagnosis slips embedded in paper registers and permanently purges them before records leave the client.</a:t>
            </a:r>
            <a:endParaRPr lang="en-US" sz="1000" dirty="0"/>
          </a:p>
        </p:txBody>
      </p:sp>
      <p:sp>
        <p:nvSpPr>
          <p:cNvPr id="20" name="Shape 18"/>
          <p:cNvSpPr/>
          <p:nvPr/>
        </p:nvSpPr>
        <p:spPr>
          <a:xfrm>
            <a:off x="7863840" y="1645920"/>
            <a:ext cx="3566160" cy="4251960"/>
          </a:xfrm>
          <a:prstGeom prst="roundRect">
            <a:avLst>
              <a:gd name="adj" fmla="val 3846"/>
            </a:avLst>
          </a:prstGeom>
          <a:solidFill>
            <a:srgbClr val="172033"/>
          </a:solidFill>
          <a:ln w="19050">
            <a:solidFill>
              <a:srgbClr val="14B8A6"/>
            </a:solidFill>
            <a:prstDash val="solid"/>
          </a:ln>
        </p:spPr>
      </p:sp>
      <p:sp>
        <p:nvSpPr>
          <p:cNvPr id="21" name="Text 19"/>
          <p:cNvSpPr/>
          <p:nvPr/>
        </p:nvSpPr>
        <p:spPr>
          <a:xfrm>
            <a:off x="8138160" y="1920240"/>
            <a:ext cx="301752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CONFIDENCE ARCHITECTURE</a:t>
            </a:r>
            <a:endParaRPr lang="en-US" sz="1100" dirty="0"/>
          </a:p>
        </p:txBody>
      </p:sp>
      <p:sp>
        <p:nvSpPr>
          <p:cNvPr id="22" name="Text 20"/>
          <p:cNvSpPr/>
          <p:nvPr/>
        </p:nvSpPr>
        <p:spPr>
          <a:xfrm>
            <a:off x="8138160" y="2377440"/>
            <a:ext cx="30175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Per-Row Confidence Scores</a:t>
            </a:r>
            <a:endParaRPr lang="en-US" sz="1400" dirty="0"/>
          </a:p>
        </p:txBody>
      </p:sp>
      <p:sp>
        <p:nvSpPr>
          <p:cNvPr id="23" name="Text 21"/>
          <p:cNvSpPr/>
          <p:nvPr/>
        </p:nvSpPr>
        <p:spPr>
          <a:xfrm>
            <a:off x="8138160" y="2788920"/>
            <a:ext cx="3017520" cy="73152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Every medicine extracted receives an individual confidence rating (0.0 to 1.0). Any score &lt; 0.8 triggers human review flags.</a:t>
            </a:r>
            <a:endParaRPr lang="en-US" sz="1000" dirty="0"/>
          </a:p>
        </p:txBody>
      </p:sp>
      <p:sp>
        <p:nvSpPr>
          <p:cNvPr id="24" name="Text 22"/>
          <p:cNvSpPr/>
          <p:nvPr/>
        </p:nvSpPr>
        <p:spPr>
          <a:xfrm>
            <a:off x="8138160" y="3657600"/>
            <a:ext cx="30175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Structured JSON Schema</a:t>
            </a:r>
            <a:endParaRPr lang="en-US" sz="1400" dirty="0"/>
          </a:p>
        </p:txBody>
      </p:sp>
      <p:sp>
        <p:nvSpPr>
          <p:cNvPr id="25" name="Text 23"/>
          <p:cNvSpPr/>
          <p:nvPr/>
        </p:nvSpPr>
        <p:spPr>
          <a:xfrm>
            <a:off x="8138160" y="4069080"/>
            <a:ext cx="3017520" cy="73152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Strict TypeScript &amp; JSON Schema enforcement ensures outputs integrate seamlessly into databases without parsing failures.</a:t>
            </a:r>
            <a:endParaRPr lang="en-US" sz="1000" dirty="0"/>
          </a:p>
        </p:txBody>
      </p:sp>
      <p:sp>
        <p:nvSpPr>
          <p:cNvPr id="26" name="Text 24"/>
          <p:cNvSpPr/>
          <p:nvPr/>
        </p:nvSpPr>
        <p:spPr>
          <a:xfrm>
            <a:off x="8138160" y="5029200"/>
            <a:ext cx="3017520" cy="640080"/>
          </a:xfrm>
          <a:prstGeom prst="rect">
            <a:avLst/>
          </a:prstGeom>
          <a:noFill/>
          <a:ln/>
        </p:spPr>
        <p:txBody>
          <a:bodyPr wrap="square" rtlCol="0" anchor="ctr"/>
          <a:lstStyle/>
          <a:p>
            <a:pPr indent="0" marL="0">
              <a:buNone/>
            </a:pPr>
            <a:r>
              <a:rPr lang="en-US" sz="950" i="1" dirty="0">
                <a:solidFill>
                  <a:srgbClr val="F59E0B"/>
                </a:solidFill>
                <a:latin typeface="Arial" pitchFamily="34" charset="0"/>
                <a:ea typeface="Arial" pitchFamily="34" charset="-122"/>
                <a:cs typeface="Arial" pitchFamily="34" charset="-120"/>
              </a:rPr>
              <a:t>Audited On: Blurry handwriting, torn borders, ambiguous dates &amp; conflicting totals.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PREDICTIVE INTELLIGENCE  |  SLIDE 6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BigQuery ML ARIMA+ &amp; Seasonal Outbreaks</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Anticipating surges before the first emergency stockout strikes</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6</a:t>
            </a:r>
            <a:endParaRPr lang="en-US" sz="900" dirty="0"/>
          </a:p>
        </p:txBody>
      </p:sp>
      <p:sp>
        <p:nvSpPr>
          <p:cNvPr id="8" name="Shape 6"/>
          <p:cNvSpPr/>
          <p:nvPr/>
        </p:nvSpPr>
        <p:spPr>
          <a:xfrm>
            <a:off x="731520" y="1645920"/>
            <a:ext cx="6583680" cy="914400"/>
          </a:xfrm>
          <a:prstGeom prst="roundRect">
            <a:avLst>
              <a:gd name="adj" fmla="val 10000"/>
            </a:avLst>
          </a:prstGeom>
          <a:solidFill>
            <a:srgbClr val="1E293B"/>
          </a:solidFill>
          <a:ln w="12700">
            <a:solidFill>
              <a:srgbClr val="334155"/>
            </a:solidFill>
            <a:prstDash val="solid"/>
          </a:ln>
        </p:spPr>
      </p:sp>
      <p:sp>
        <p:nvSpPr>
          <p:cNvPr id="9" name="Text 7"/>
          <p:cNvSpPr/>
          <p:nvPr/>
        </p:nvSpPr>
        <p:spPr>
          <a:xfrm>
            <a:off x="1005840" y="1783080"/>
            <a:ext cx="603504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Madhya Pradesh (MP)  ·  Central Heat &amp; Monsoon Surge</a:t>
            </a:r>
            <a:endParaRPr lang="en-US" sz="1100" dirty="0"/>
          </a:p>
        </p:txBody>
      </p:sp>
      <p:sp>
        <p:nvSpPr>
          <p:cNvPr id="10" name="Text 8"/>
          <p:cNvSpPr/>
          <p:nvPr/>
        </p:nvSpPr>
        <p:spPr>
          <a:xfrm>
            <a:off x="1005840" y="2057400"/>
            <a:ext cx="6035040" cy="411480"/>
          </a:xfrm>
          <a:prstGeom prst="rect">
            <a:avLst/>
          </a:prstGeom>
          <a:noFill/>
          <a:ln/>
        </p:spPr>
        <p:txBody>
          <a:bodyPr wrap="square" rtlCol="0" anchor="ctr"/>
          <a:lstStyle/>
          <a:p>
            <a:pPr indent="0" marL="0">
              <a:buNone/>
            </a:pPr>
            <a:r>
              <a:rPr lang="en-US" sz="950" dirty="0">
                <a:solidFill>
                  <a:srgbClr val="E2E8F0"/>
                </a:solidFill>
                <a:latin typeface="Arial" pitchFamily="34" charset="0"/>
                <a:ea typeface="Arial" pitchFamily="34" charset="-122"/>
                <a:cs typeface="Arial" pitchFamily="34" charset="-120"/>
              </a:rPr>
              <a:t>Dengue &amp; diarrhoeal surge in Aug–Sep; malaria &amp; snakebite in tribal Mandla &amp; Balaghat districts.</a:t>
            </a:r>
            <a:endParaRPr lang="en-US" sz="950" dirty="0"/>
          </a:p>
        </p:txBody>
      </p:sp>
      <p:sp>
        <p:nvSpPr>
          <p:cNvPr id="11" name="Shape 9"/>
          <p:cNvSpPr/>
          <p:nvPr/>
        </p:nvSpPr>
        <p:spPr>
          <a:xfrm>
            <a:off x="731520" y="2697480"/>
            <a:ext cx="6583680" cy="914400"/>
          </a:xfrm>
          <a:prstGeom prst="roundRect">
            <a:avLst>
              <a:gd name="adj" fmla="val 10000"/>
            </a:avLst>
          </a:prstGeom>
          <a:solidFill>
            <a:srgbClr val="1E293B"/>
          </a:solidFill>
          <a:ln w="12700">
            <a:solidFill>
              <a:srgbClr val="334155"/>
            </a:solidFill>
            <a:prstDash val="solid"/>
          </a:ln>
        </p:spPr>
      </p:sp>
      <p:sp>
        <p:nvSpPr>
          <p:cNvPr id="12" name="Text 10"/>
          <p:cNvSpPr/>
          <p:nvPr/>
        </p:nvSpPr>
        <p:spPr>
          <a:xfrm>
            <a:off x="1005840" y="2834640"/>
            <a:ext cx="603504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Maharashtra (MH)  ·  Urban-Tribal Dual Surges</a:t>
            </a:r>
            <a:endParaRPr lang="en-US" sz="1100" dirty="0"/>
          </a:p>
        </p:txBody>
      </p:sp>
      <p:sp>
        <p:nvSpPr>
          <p:cNvPr id="13" name="Text 11"/>
          <p:cNvSpPr/>
          <p:nvPr/>
        </p:nvSpPr>
        <p:spPr>
          <a:xfrm>
            <a:off x="1005840" y="3108960"/>
            <a:ext cx="6035040" cy="411480"/>
          </a:xfrm>
          <a:prstGeom prst="rect">
            <a:avLst/>
          </a:prstGeom>
          <a:noFill/>
          <a:ln/>
        </p:spPr>
        <p:txBody>
          <a:bodyPr wrap="square" rtlCol="0" anchor="ctr"/>
          <a:lstStyle/>
          <a:p>
            <a:pPr indent="0" marL="0">
              <a:buNone/>
            </a:pPr>
            <a:r>
              <a:rPr lang="en-US" sz="950" dirty="0">
                <a:solidFill>
                  <a:srgbClr val="E2E8F0"/>
                </a:solidFill>
                <a:latin typeface="Arial" pitchFamily="34" charset="0"/>
                <a:ea typeface="Arial" pitchFamily="34" charset="-122"/>
                <a:cs typeface="Arial" pitchFamily="34" charset="-120"/>
              </a:rPr>
              <a:t>Winter flu wave in Jan (Nagpur/Pune) and vector-borne dengue peaks in August.</a:t>
            </a:r>
            <a:endParaRPr lang="en-US" sz="950" dirty="0"/>
          </a:p>
        </p:txBody>
      </p:sp>
      <p:sp>
        <p:nvSpPr>
          <p:cNvPr id="14" name="Shape 12"/>
          <p:cNvSpPr/>
          <p:nvPr/>
        </p:nvSpPr>
        <p:spPr>
          <a:xfrm>
            <a:off x="731520" y="3749040"/>
            <a:ext cx="6583680" cy="914400"/>
          </a:xfrm>
          <a:prstGeom prst="roundRect">
            <a:avLst>
              <a:gd name="adj" fmla="val 10000"/>
            </a:avLst>
          </a:prstGeom>
          <a:solidFill>
            <a:srgbClr val="1E293B"/>
          </a:solidFill>
          <a:ln w="12700">
            <a:solidFill>
              <a:srgbClr val="334155"/>
            </a:solidFill>
            <a:prstDash val="solid"/>
          </a:ln>
        </p:spPr>
      </p:sp>
      <p:sp>
        <p:nvSpPr>
          <p:cNvPr id="15" name="Text 13"/>
          <p:cNvSpPr/>
          <p:nvPr/>
        </p:nvSpPr>
        <p:spPr>
          <a:xfrm>
            <a:off x="1005840" y="3886200"/>
            <a:ext cx="603504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Kerala (KL)  ·  Dual Monsoons &amp; High Chronic Load</a:t>
            </a:r>
            <a:endParaRPr lang="en-US" sz="1100" dirty="0"/>
          </a:p>
        </p:txBody>
      </p:sp>
      <p:sp>
        <p:nvSpPr>
          <p:cNvPr id="16" name="Text 14"/>
          <p:cNvSpPr/>
          <p:nvPr/>
        </p:nvSpPr>
        <p:spPr>
          <a:xfrm>
            <a:off x="1005840" y="4160520"/>
            <a:ext cx="6035040" cy="411480"/>
          </a:xfrm>
          <a:prstGeom prst="rect">
            <a:avLst/>
          </a:prstGeom>
          <a:noFill/>
          <a:ln/>
        </p:spPr>
        <p:txBody>
          <a:bodyPr wrap="square" rtlCol="0" anchor="ctr"/>
          <a:lstStyle/>
          <a:p>
            <a:pPr indent="0" marL="0">
              <a:buNone/>
            </a:pPr>
            <a:r>
              <a:rPr lang="en-US" sz="950" dirty="0">
                <a:solidFill>
                  <a:srgbClr val="E2E8F0"/>
                </a:solidFill>
                <a:latin typeface="Arial" pitchFamily="34" charset="0"/>
                <a:ea typeface="Arial" pitchFamily="34" charset="-122"/>
                <a:cs typeface="Arial" pitchFamily="34" charset="-120"/>
              </a:rPr>
              <a:t>SW monsoon (Jul) &amp; NE monsoon (Oct–Nov); diabetes prevalence drives 1.5x insulin &amp; metformin demand.</a:t>
            </a:r>
            <a:endParaRPr lang="en-US" sz="950" dirty="0"/>
          </a:p>
        </p:txBody>
      </p:sp>
      <p:sp>
        <p:nvSpPr>
          <p:cNvPr id="17" name="Shape 15"/>
          <p:cNvSpPr/>
          <p:nvPr/>
        </p:nvSpPr>
        <p:spPr>
          <a:xfrm>
            <a:off x="731520" y="4800600"/>
            <a:ext cx="6583680" cy="914400"/>
          </a:xfrm>
          <a:prstGeom prst="roundRect">
            <a:avLst>
              <a:gd name="adj" fmla="val 10000"/>
            </a:avLst>
          </a:prstGeom>
          <a:solidFill>
            <a:srgbClr val="1E293B"/>
          </a:solidFill>
          <a:ln w="12700">
            <a:solidFill>
              <a:srgbClr val="334155"/>
            </a:solidFill>
            <a:prstDash val="solid"/>
          </a:ln>
        </p:spPr>
      </p:sp>
      <p:sp>
        <p:nvSpPr>
          <p:cNvPr id="18" name="Text 16"/>
          <p:cNvSpPr/>
          <p:nvPr/>
        </p:nvSpPr>
        <p:spPr>
          <a:xfrm>
            <a:off x="1005840" y="4937760"/>
            <a:ext cx="603504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Assam (AS)  ·  Brahmaputra Flood Emergencies</a:t>
            </a:r>
            <a:endParaRPr lang="en-US" sz="1100" dirty="0"/>
          </a:p>
        </p:txBody>
      </p:sp>
      <p:sp>
        <p:nvSpPr>
          <p:cNvPr id="19" name="Text 17"/>
          <p:cNvSpPr/>
          <p:nvPr/>
        </p:nvSpPr>
        <p:spPr>
          <a:xfrm>
            <a:off x="1005840" y="5212080"/>
            <a:ext cx="6035040" cy="411480"/>
          </a:xfrm>
          <a:prstGeom prst="rect">
            <a:avLst/>
          </a:prstGeom>
          <a:noFill/>
          <a:ln/>
        </p:spPr>
        <p:txBody>
          <a:bodyPr wrap="square" rtlCol="0" anchor="ctr"/>
          <a:lstStyle/>
          <a:p>
            <a:pPr indent="0" marL="0">
              <a:buNone/>
            </a:pPr>
            <a:r>
              <a:rPr lang="en-US" sz="950" dirty="0">
                <a:solidFill>
                  <a:srgbClr val="E2E8F0"/>
                </a:solidFill>
                <a:latin typeface="Arial" pitchFamily="34" charset="0"/>
                <a:ea typeface="Arial" pitchFamily="34" charset="-122"/>
                <a:cs typeface="Arial" pitchFamily="34" charset="-120"/>
              </a:rPr>
              <a:t>Catastrophic flood season (Jun–Aug) driving 3.0x diarrhoeal, fever, and critical anti-snake venom demand.</a:t>
            </a:r>
            <a:endParaRPr lang="en-US" sz="950" dirty="0"/>
          </a:p>
        </p:txBody>
      </p:sp>
      <p:sp>
        <p:nvSpPr>
          <p:cNvPr id="20" name="Shape 18"/>
          <p:cNvSpPr/>
          <p:nvPr/>
        </p:nvSpPr>
        <p:spPr>
          <a:xfrm>
            <a:off x="7589520" y="1645920"/>
            <a:ext cx="3840480" cy="4251960"/>
          </a:xfrm>
          <a:prstGeom prst="roundRect">
            <a:avLst>
              <a:gd name="adj" fmla="val 3571"/>
            </a:avLst>
          </a:prstGeom>
          <a:solidFill>
            <a:srgbClr val="172033"/>
          </a:solidFill>
          <a:ln w="12700">
            <a:solidFill>
              <a:srgbClr val="334155"/>
            </a:solidFill>
            <a:prstDash val="solid"/>
          </a:ln>
        </p:spPr>
      </p:sp>
      <p:sp>
        <p:nvSpPr>
          <p:cNvPr id="21" name="Text 19"/>
          <p:cNvSpPr/>
          <p:nvPr/>
        </p:nvSpPr>
        <p:spPr>
          <a:xfrm>
            <a:off x="7863840" y="1920240"/>
            <a:ext cx="329184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DYNAMIC DAYS OF COVER (DoC)</a:t>
            </a:r>
            <a:endParaRPr lang="en-US" sz="1100" dirty="0"/>
          </a:p>
        </p:txBody>
      </p:sp>
      <p:sp>
        <p:nvSpPr>
          <p:cNvPr id="22" name="Text 20"/>
          <p:cNvSpPr/>
          <p:nvPr/>
        </p:nvSpPr>
        <p:spPr>
          <a:xfrm>
            <a:off x="7863840" y="2286000"/>
            <a:ext cx="32918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DoC = Stock / Predicted Burn Rate</a:t>
            </a:r>
            <a:endParaRPr lang="en-US" sz="1200" dirty="0"/>
          </a:p>
        </p:txBody>
      </p:sp>
      <p:sp>
        <p:nvSpPr>
          <p:cNvPr id="23" name="Text 21"/>
          <p:cNvSpPr/>
          <p:nvPr/>
        </p:nvSpPr>
        <p:spPr>
          <a:xfrm>
            <a:off x="7863840" y="2788920"/>
            <a:ext cx="3291840" cy="228600"/>
          </a:xfrm>
          <a:prstGeom prst="rect">
            <a:avLst/>
          </a:prstGeom>
          <a:noFill/>
          <a:ln/>
        </p:spPr>
        <p:txBody>
          <a:bodyPr wrap="square" rtlCol="0" anchor="ctr"/>
          <a:lstStyle/>
          <a:p>
            <a:pPr indent="0" marL="0">
              <a:buNone/>
            </a:pPr>
            <a:r>
              <a:rPr lang="en-US" sz="1050" b="1" dirty="0">
                <a:solidFill>
                  <a:srgbClr val="F87171"/>
                </a:solidFill>
                <a:latin typeface="Arial" pitchFamily="34" charset="0"/>
                <a:ea typeface="Arial" pitchFamily="34" charset="-122"/>
                <a:cs typeface="Arial" pitchFamily="34" charset="-120"/>
              </a:rPr>
              <a:t>Critical (&lt;= 3 Days)</a:t>
            </a:r>
            <a:endParaRPr lang="en-US" sz="1050" dirty="0"/>
          </a:p>
        </p:txBody>
      </p:sp>
      <p:sp>
        <p:nvSpPr>
          <p:cNvPr id="24" name="Text 22"/>
          <p:cNvSpPr/>
          <p:nvPr/>
        </p:nvSpPr>
        <p:spPr>
          <a:xfrm>
            <a:off x="7863840" y="3017520"/>
            <a:ext cx="3291840" cy="32004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Immediate emergency transfer needed</a:t>
            </a:r>
            <a:endParaRPr lang="en-US" sz="900" dirty="0"/>
          </a:p>
        </p:txBody>
      </p:sp>
      <p:sp>
        <p:nvSpPr>
          <p:cNvPr id="25" name="Text 23"/>
          <p:cNvSpPr/>
          <p:nvPr/>
        </p:nvSpPr>
        <p:spPr>
          <a:xfrm>
            <a:off x="7863840" y="3474720"/>
            <a:ext cx="3291840" cy="228600"/>
          </a:xfrm>
          <a:prstGeom prst="rect">
            <a:avLst/>
          </a:prstGeom>
          <a:noFill/>
          <a:ln/>
        </p:spPr>
        <p:txBody>
          <a:bodyPr wrap="square" rtlCol="0" anchor="ctr"/>
          <a:lstStyle/>
          <a:p>
            <a:pPr indent="0" marL="0">
              <a:buNone/>
            </a:pPr>
            <a:r>
              <a:rPr lang="en-US" sz="1050" b="1" dirty="0">
                <a:solidFill>
                  <a:srgbClr val="FBBF24"/>
                </a:solidFill>
                <a:latin typeface="Arial" pitchFamily="34" charset="0"/>
                <a:ea typeface="Arial" pitchFamily="34" charset="-122"/>
                <a:cs typeface="Arial" pitchFamily="34" charset="-120"/>
              </a:rPr>
              <a:t>High (4 - 7 Days)</a:t>
            </a:r>
            <a:endParaRPr lang="en-US" sz="1050" dirty="0"/>
          </a:p>
        </p:txBody>
      </p:sp>
      <p:sp>
        <p:nvSpPr>
          <p:cNvPr id="26" name="Text 24"/>
          <p:cNvSpPr/>
          <p:nvPr/>
        </p:nvSpPr>
        <p:spPr>
          <a:xfrm>
            <a:off x="7863840" y="3703320"/>
            <a:ext cx="3291840" cy="32004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Expedite routine warehouse replenishment</a:t>
            </a:r>
            <a:endParaRPr lang="en-US" sz="900" dirty="0"/>
          </a:p>
        </p:txBody>
      </p:sp>
      <p:sp>
        <p:nvSpPr>
          <p:cNvPr id="27" name="Text 25"/>
          <p:cNvSpPr/>
          <p:nvPr/>
        </p:nvSpPr>
        <p:spPr>
          <a:xfrm>
            <a:off x="7863840" y="4160520"/>
            <a:ext cx="3291840" cy="228600"/>
          </a:xfrm>
          <a:prstGeom prst="rect">
            <a:avLst/>
          </a:prstGeom>
          <a:noFill/>
          <a:ln/>
        </p:spPr>
        <p:txBody>
          <a:bodyPr wrap="square" rtlCol="0" anchor="ctr"/>
          <a:lstStyle/>
          <a:p>
            <a:pPr indent="0" marL="0">
              <a:buNone/>
            </a:pPr>
            <a:r>
              <a:rPr lang="en-US" sz="1050" b="1" dirty="0">
                <a:solidFill>
                  <a:srgbClr val="60A5FA"/>
                </a:solidFill>
                <a:latin typeface="Arial" pitchFamily="34" charset="0"/>
                <a:ea typeface="Arial" pitchFamily="34" charset="-122"/>
                <a:cs typeface="Arial" pitchFamily="34" charset="-120"/>
              </a:rPr>
              <a:t>Medium (8 - 14 Days)</a:t>
            </a:r>
            <a:endParaRPr lang="en-US" sz="1050" dirty="0"/>
          </a:p>
        </p:txBody>
      </p:sp>
      <p:sp>
        <p:nvSpPr>
          <p:cNvPr id="28" name="Text 26"/>
          <p:cNvSpPr/>
          <p:nvPr/>
        </p:nvSpPr>
        <p:spPr>
          <a:xfrm>
            <a:off x="7863840" y="4389120"/>
            <a:ext cx="3291840" cy="32004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Monitor burn rate and incoming deliveries</a:t>
            </a:r>
            <a:endParaRPr lang="en-US" sz="900" dirty="0"/>
          </a:p>
        </p:txBody>
      </p:sp>
      <p:sp>
        <p:nvSpPr>
          <p:cNvPr id="29" name="Text 27"/>
          <p:cNvSpPr/>
          <p:nvPr/>
        </p:nvSpPr>
        <p:spPr>
          <a:xfrm>
            <a:off x="7863840" y="4846320"/>
            <a:ext cx="3291840" cy="228600"/>
          </a:xfrm>
          <a:prstGeom prst="rect">
            <a:avLst/>
          </a:prstGeom>
          <a:noFill/>
          <a:ln/>
        </p:spPr>
        <p:txBody>
          <a:bodyPr wrap="square" rtlCol="0" anchor="ctr"/>
          <a:lstStyle/>
          <a:p>
            <a:pPr indent="0" marL="0">
              <a:buNone/>
            </a:pPr>
            <a:r>
              <a:rPr lang="en-US" sz="1050" b="1" dirty="0">
                <a:solidFill>
                  <a:srgbClr val="34D399"/>
                </a:solidFill>
                <a:latin typeface="Arial" pitchFamily="34" charset="0"/>
                <a:ea typeface="Arial" pitchFamily="34" charset="-122"/>
                <a:cs typeface="Arial" pitchFamily="34" charset="-120"/>
              </a:rPr>
              <a:t>Low (&gt; 14 Days)</a:t>
            </a:r>
            <a:endParaRPr lang="en-US" sz="1050" dirty="0"/>
          </a:p>
        </p:txBody>
      </p:sp>
      <p:sp>
        <p:nvSpPr>
          <p:cNvPr id="30" name="Text 28"/>
          <p:cNvSpPr/>
          <p:nvPr/>
        </p:nvSpPr>
        <p:spPr>
          <a:xfrm>
            <a:off x="7863840" y="5074920"/>
            <a:ext cx="3291840" cy="32004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Healthy buffer; potential transfer source</a:t>
            </a:r>
            <a:endParaRPr lang="en-US" sz="900" dirty="0"/>
          </a:p>
        </p:txBody>
      </p:sp>
      <p:sp>
        <p:nvSpPr>
          <p:cNvPr id="31" name="Text 29"/>
          <p:cNvSpPr/>
          <p:nvPr/>
        </p:nvSpPr>
        <p:spPr>
          <a:xfrm>
            <a:off x="7863840" y="5257800"/>
            <a:ext cx="3291840" cy="548640"/>
          </a:xfrm>
          <a:prstGeom prst="rect">
            <a:avLst/>
          </a:prstGeom>
          <a:noFill/>
          <a:ln/>
        </p:spPr>
        <p:txBody>
          <a:bodyPr wrap="square" rtlCol="0" anchor="ctr"/>
          <a:lstStyle/>
          <a:p>
            <a:pPr indent="0" marL="0">
              <a:buNone/>
            </a:pPr>
            <a:r>
              <a:rPr lang="en-US" sz="900" i="1" dirty="0">
                <a:solidFill>
                  <a:srgbClr val="E2E8F0"/>
                </a:solidFill>
                <a:latin typeface="Arial" pitchFamily="34" charset="0"/>
                <a:ea typeface="Arial" pitchFamily="34" charset="-122"/>
                <a:cs typeface="Arial" pitchFamily="34" charset="-120"/>
              </a:rPr>
              <a:t>One-Click Trigger: District officers can simulate surge scenarios (e.g. 1.9x Dengue) to verify buffer resilience.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OPERATIONS RESEARCH  |  SLIDE 7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Algorithmic Redistribution &amp; Distance Optimization</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Pairing shortage facilities with expiring surplus depots within state road networks</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7</a:t>
            </a:r>
            <a:endParaRPr lang="en-US" sz="900" dirty="0"/>
          </a:p>
        </p:txBody>
      </p:sp>
      <p:sp>
        <p:nvSpPr>
          <p:cNvPr id="8" name="Shape 6"/>
          <p:cNvSpPr/>
          <p:nvPr/>
        </p:nvSpPr>
        <p:spPr>
          <a:xfrm>
            <a:off x="731520" y="1645920"/>
            <a:ext cx="5120640" cy="1508760"/>
          </a:xfrm>
          <a:prstGeom prst="roundRect">
            <a:avLst>
              <a:gd name="adj" fmla="val 7273"/>
            </a:avLst>
          </a:prstGeom>
          <a:solidFill>
            <a:srgbClr val="1E293B"/>
          </a:solidFill>
          <a:ln w="12700">
            <a:solidFill>
              <a:srgbClr val="334155"/>
            </a:solidFill>
            <a:prstDash val="solid"/>
          </a:ln>
        </p:spPr>
      </p:sp>
      <p:sp>
        <p:nvSpPr>
          <p:cNvPr id="9" name="Text 7"/>
          <p:cNvSpPr/>
          <p:nvPr/>
        </p:nvSpPr>
        <p:spPr>
          <a:xfrm>
            <a:off x="1005840" y="1828800"/>
            <a:ext cx="4572000" cy="320040"/>
          </a:xfrm>
          <a:prstGeom prst="rect">
            <a:avLst/>
          </a:prstGeom>
          <a:noFill/>
          <a:ln/>
        </p:spPr>
        <p:txBody>
          <a:bodyPr wrap="square" rtlCol="0" anchor="ctr"/>
          <a:lstStyle/>
          <a:p>
            <a:pPr indent="0" marL="0">
              <a:buNone/>
            </a:pPr>
            <a:r>
              <a:rPr lang="en-US" sz="1250" b="1" dirty="0">
                <a:solidFill>
                  <a:srgbClr val="14B8A6"/>
                </a:solidFill>
                <a:latin typeface="Arial" pitchFamily="34" charset="0"/>
                <a:ea typeface="Arial" pitchFamily="34" charset="-122"/>
                <a:cs typeface="Arial" pitchFamily="34" charset="-120"/>
              </a:rPr>
              <a:t>Intra-State Road Network Routing</a:t>
            </a:r>
            <a:endParaRPr lang="en-US" sz="1250" dirty="0"/>
          </a:p>
        </p:txBody>
      </p:sp>
      <p:sp>
        <p:nvSpPr>
          <p:cNvPr id="10" name="Text 8"/>
          <p:cNvSpPr/>
          <p:nvPr/>
        </p:nvSpPr>
        <p:spPr>
          <a:xfrm>
            <a:off x="1005840" y="2194560"/>
            <a:ext cx="4572000" cy="86868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Uses road network distance matrices (phc_distances.csv) to solve min-cost transfer paths strictly within state boundaries, honoring health jurisdiction.</a:t>
            </a:r>
            <a:endParaRPr lang="en-US" sz="1000" dirty="0"/>
          </a:p>
        </p:txBody>
      </p:sp>
      <p:sp>
        <p:nvSpPr>
          <p:cNvPr id="11" name="Shape 9"/>
          <p:cNvSpPr/>
          <p:nvPr/>
        </p:nvSpPr>
        <p:spPr>
          <a:xfrm>
            <a:off x="6126480" y="1645920"/>
            <a:ext cx="5120640" cy="1508760"/>
          </a:xfrm>
          <a:prstGeom prst="roundRect">
            <a:avLst>
              <a:gd name="adj" fmla="val 7273"/>
            </a:avLst>
          </a:prstGeom>
          <a:solidFill>
            <a:srgbClr val="1E293B"/>
          </a:solidFill>
          <a:ln w="12700">
            <a:solidFill>
              <a:srgbClr val="334155"/>
            </a:solidFill>
            <a:prstDash val="solid"/>
          </a:ln>
        </p:spPr>
      </p:sp>
      <p:sp>
        <p:nvSpPr>
          <p:cNvPr id="12" name="Text 10"/>
          <p:cNvSpPr/>
          <p:nvPr/>
        </p:nvSpPr>
        <p:spPr>
          <a:xfrm>
            <a:off x="6400800" y="1828800"/>
            <a:ext cx="4572000" cy="320040"/>
          </a:xfrm>
          <a:prstGeom prst="rect">
            <a:avLst/>
          </a:prstGeom>
          <a:noFill/>
          <a:ln/>
        </p:spPr>
        <p:txBody>
          <a:bodyPr wrap="square" rtlCol="0" anchor="ctr"/>
          <a:lstStyle/>
          <a:p>
            <a:pPr indent="0" marL="0">
              <a:buNone/>
            </a:pPr>
            <a:r>
              <a:rPr lang="en-US" sz="1250" b="1" dirty="0">
                <a:solidFill>
                  <a:srgbClr val="14B8A6"/>
                </a:solidFill>
                <a:latin typeface="Arial" pitchFamily="34" charset="0"/>
                <a:ea typeface="Arial" pitchFamily="34" charset="-122"/>
                <a:cs typeface="Arial" pitchFamily="34" charset="-120"/>
              </a:rPr>
              <a:t>FEFO Expiry Prioritization</a:t>
            </a:r>
            <a:endParaRPr lang="en-US" sz="1250" dirty="0"/>
          </a:p>
        </p:txBody>
      </p:sp>
      <p:sp>
        <p:nvSpPr>
          <p:cNvPr id="13" name="Text 11"/>
          <p:cNvSpPr/>
          <p:nvPr/>
        </p:nvSpPr>
        <p:spPr>
          <a:xfrm>
            <a:off x="6400800" y="2194560"/>
            <a:ext cx="4572000" cy="86868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Specifically selects source clinics where surplus medicine expires within 90 days, eliminating costly incinerations while replenishing shortages.</a:t>
            </a:r>
            <a:endParaRPr lang="en-US" sz="1000" dirty="0"/>
          </a:p>
        </p:txBody>
      </p:sp>
      <p:sp>
        <p:nvSpPr>
          <p:cNvPr id="14" name="Shape 12"/>
          <p:cNvSpPr/>
          <p:nvPr/>
        </p:nvSpPr>
        <p:spPr>
          <a:xfrm>
            <a:off x="731520" y="3383280"/>
            <a:ext cx="5120640" cy="1508760"/>
          </a:xfrm>
          <a:prstGeom prst="roundRect">
            <a:avLst>
              <a:gd name="adj" fmla="val 7273"/>
            </a:avLst>
          </a:prstGeom>
          <a:solidFill>
            <a:srgbClr val="1E293B"/>
          </a:solidFill>
          <a:ln w="12700">
            <a:solidFill>
              <a:srgbClr val="334155"/>
            </a:solidFill>
            <a:prstDash val="solid"/>
          </a:ln>
        </p:spPr>
      </p:sp>
      <p:sp>
        <p:nvSpPr>
          <p:cNvPr id="15" name="Text 13"/>
          <p:cNvSpPr/>
          <p:nvPr/>
        </p:nvSpPr>
        <p:spPr>
          <a:xfrm>
            <a:off x="1005840" y="3566160"/>
            <a:ext cx="4572000" cy="320040"/>
          </a:xfrm>
          <a:prstGeom prst="rect">
            <a:avLst/>
          </a:prstGeom>
          <a:noFill/>
          <a:ln/>
        </p:spPr>
        <p:txBody>
          <a:bodyPr wrap="square" rtlCol="0" anchor="ctr"/>
          <a:lstStyle/>
          <a:p>
            <a:pPr indent="0" marL="0">
              <a:buNone/>
            </a:pPr>
            <a:r>
              <a:rPr lang="en-US" sz="1250" b="1" dirty="0">
                <a:solidFill>
                  <a:srgbClr val="14B8A6"/>
                </a:solidFill>
                <a:latin typeface="Arial" pitchFamily="34" charset="0"/>
                <a:ea typeface="Arial" pitchFamily="34" charset="-122"/>
                <a:cs typeface="Arial" pitchFamily="34" charset="-120"/>
              </a:rPr>
              <a:t>Cold-Chain Integrity Protection</a:t>
            </a:r>
            <a:endParaRPr lang="en-US" sz="1250" dirty="0"/>
          </a:p>
        </p:txBody>
      </p:sp>
      <p:sp>
        <p:nvSpPr>
          <p:cNvPr id="16" name="Text 14"/>
          <p:cNvSpPr/>
          <p:nvPr/>
        </p:nvSpPr>
        <p:spPr>
          <a:xfrm>
            <a:off x="1005840" y="3931920"/>
            <a:ext cx="4572000" cy="86868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Enforces specialized cold-box transit packaging and temperature thresholds for Insulin vials and Anti-snake venom dispatches.</a:t>
            </a:r>
            <a:endParaRPr lang="en-US" sz="1000" dirty="0"/>
          </a:p>
        </p:txBody>
      </p:sp>
      <p:sp>
        <p:nvSpPr>
          <p:cNvPr id="17" name="Shape 15"/>
          <p:cNvSpPr/>
          <p:nvPr/>
        </p:nvSpPr>
        <p:spPr>
          <a:xfrm>
            <a:off x="6126480" y="3383280"/>
            <a:ext cx="5120640" cy="1508760"/>
          </a:xfrm>
          <a:prstGeom prst="roundRect">
            <a:avLst>
              <a:gd name="adj" fmla="val 7273"/>
            </a:avLst>
          </a:prstGeom>
          <a:solidFill>
            <a:srgbClr val="1E293B"/>
          </a:solidFill>
          <a:ln w="12700">
            <a:solidFill>
              <a:srgbClr val="334155"/>
            </a:solidFill>
            <a:prstDash val="solid"/>
          </a:ln>
        </p:spPr>
      </p:sp>
      <p:sp>
        <p:nvSpPr>
          <p:cNvPr id="18" name="Text 16"/>
          <p:cNvSpPr/>
          <p:nvPr/>
        </p:nvSpPr>
        <p:spPr>
          <a:xfrm>
            <a:off x="6400800" y="3566160"/>
            <a:ext cx="4572000" cy="320040"/>
          </a:xfrm>
          <a:prstGeom prst="rect">
            <a:avLst/>
          </a:prstGeom>
          <a:noFill/>
          <a:ln/>
        </p:spPr>
        <p:txBody>
          <a:bodyPr wrap="square" rtlCol="0" anchor="ctr"/>
          <a:lstStyle/>
          <a:p>
            <a:pPr indent="0" marL="0">
              <a:buNone/>
            </a:pPr>
            <a:r>
              <a:rPr lang="en-US" sz="1250" b="1" dirty="0">
                <a:solidFill>
                  <a:srgbClr val="14B8A6"/>
                </a:solidFill>
                <a:latin typeface="Arial" pitchFamily="34" charset="0"/>
                <a:ea typeface="Arial" pitchFamily="34" charset="-122"/>
                <a:cs typeface="Arial" pitchFamily="34" charset="-120"/>
              </a:rPr>
              <a:t>Human-in-the-Loop Governance (Rule 3)</a:t>
            </a:r>
            <a:endParaRPr lang="en-US" sz="1250" dirty="0"/>
          </a:p>
        </p:txBody>
      </p:sp>
      <p:sp>
        <p:nvSpPr>
          <p:cNvPr id="19" name="Text 17"/>
          <p:cNvSpPr/>
          <p:nvPr/>
        </p:nvSpPr>
        <p:spPr>
          <a:xfrm>
            <a:off x="6400800" y="3931920"/>
            <a:ext cx="4572000" cy="86868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PHC Pulse generates transfer recommendations with one-line rationales. The Chief Medical Officer signs off before any physical vehicle moves.</a:t>
            </a:r>
            <a:endParaRPr lang="en-US" sz="1000" dirty="0"/>
          </a:p>
        </p:txBody>
      </p:sp>
      <p:sp>
        <p:nvSpPr>
          <p:cNvPr id="20" name="Shape 18"/>
          <p:cNvSpPr/>
          <p:nvPr/>
        </p:nvSpPr>
        <p:spPr>
          <a:xfrm>
            <a:off x="731520" y="5166360"/>
            <a:ext cx="10515600" cy="822960"/>
          </a:xfrm>
          <a:prstGeom prst="roundRect">
            <a:avLst>
              <a:gd name="adj" fmla="val 11111"/>
            </a:avLst>
          </a:prstGeom>
          <a:solidFill>
            <a:srgbClr val="064E3B"/>
          </a:solidFill>
          <a:ln w="12700">
            <a:solidFill>
              <a:srgbClr val="10B981"/>
            </a:solidFill>
            <a:prstDash val="solid"/>
          </a:ln>
        </p:spPr>
      </p:sp>
      <p:sp>
        <p:nvSpPr>
          <p:cNvPr id="21" name="Text 19"/>
          <p:cNvSpPr/>
          <p:nvPr/>
        </p:nvSpPr>
        <p:spPr>
          <a:xfrm>
            <a:off x="914400" y="5257800"/>
            <a:ext cx="10149840" cy="640080"/>
          </a:xfrm>
          <a:prstGeom prst="rect">
            <a:avLst/>
          </a:prstGeom>
          <a:noFill/>
          <a:ln/>
        </p:spPr>
        <p:txBody>
          <a:bodyPr wrap="square" rtlCol="0" anchor="ctr"/>
          <a:lstStyle/>
          <a:p>
            <a:pPr indent="0" marL="0">
              <a:buNone/>
            </a:pPr>
            <a:r>
              <a:rPr lang="en-US" sz="1000" b="1" dirty="0">
                <a:solidFill>
                  <a:srgbClr val="ECFDF5"/>
                </a:solidFill>
                <a:latin typeface="Arial" pitchFamily="34" charset="0"/>
                <a:ea typeface="Arial" pitchFamily="34" charset="-122"/>
                <a:cs typeface="Arial" pitchFamily="34" charset="-120"/>
              </a:rPr>
              <a:t>Generated Order Rationale: 'Move 500 ORS packs from PHC Kanadia to PHC Rampur (42 km road distance) because Rampur runs out in 3.0 days (Critical) while Kanadia holds 60.0 days of surplus expiring within 90 days. Status: PENDING CMO APPROVAL.'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DATA SOVEREIGNTY  |  SLIDE 8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Inter-State Federated Learning Architecture</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Health is a State Subject — Absolute Data Sovereignty by Design</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8</a:t>
            </a:r>
            <a:endParaRPr lang="en-US" sz="900" dirty="0"/>
          </a:p>
        </p:txBody>
      </p:sp>
      <p:sp>
        <p:nvSpPr>
          <p:cNvPr id="8" name="Shape 6"/>
          <p:cNvSpPr/>
          <p:nvPr/>
        </p:nvSpPr>
        <p:spPr>
          <a:xfrm>
            <a:off x="731520" y="1645920"/>
            <a:ext cx="6583680" cy="1051560"/>
          </a:xfrm>
          <a:prstGeom prst="roundRect">
            <a:avLst>
              <a:gd name="adj" fmla="val 8696"/>
            </a:avLst>
          </a:prstGeom>
          <a:solidFill>
            <a:srgbClr val="1E293B"/>
          </a:solidFill>
          <a:ln w="12700">
            <a:solidFill>
              <a:srgbClr val="334155"/>
            </a:solidFill>
            <a:prstDash val="solid"/>
          </a:ln>
        </p:spPr>
      </p:sp>
      <p:sp>
        <p:nvSpPr>
          <p:cNvPr id="9" name="Text 7"/>
          <p:cNvSpPr/>
          <p:nvPr/>
        </p:nvSpPr>
        <p:spPr>
          <a:xfrm>
            <a:off x="1005840" y="1783080"/>
            <a:ext cx="603504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Constitutional Alignment (Entry 6, State List)</a:t>
            </a:r>
            <a:endParaRPr lang="en-US" sz="1200" dirty="0"/>
          </a:p>
        </p:txBody>
      </p:sp>
      <p:sp>
        <p:nvSpPr>
          <p:cNvPr id="10" name="Text 8"/>
          <p:cNvSpPr/>
          <p:nvPr/>
        </p:nvSpPr>
        <p:spPr>
          <a:xfrm>
            <a:off x="1005840" y="2057400"/>
            <a:ext cx="6035040" cy="54864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Public health in India is constitutionally governed at the state level. Centralized patient databases trigger jurisdictional and sovereignty friction.</a:t>
            </a:r>
            <a:endParaRPr lang="en-US" sz="1000" dirty="0"/>
          </a:p>
        </p:txBody>
      </p:sp>
      <p:sp>
        <p:nvSpPr>
          <p:cNvPr id="11" name="Shape 9"/>
          <p:cNvSpPr/>
          <p:nvPr/>
        </p:nvSpPr>
        <p:spPr>
          <a:xfrm>
            <a:off x="731520" y="2880360"/>
            <a:ext cx="6583680" cy="1051560"/>
          </a:xfrm>
          <a:prstGeom prst="roundRect">
            <a:avLst>
              <a:gd name="adj" fmla="val 8696"/>
            </a:avLst>
          </a:prstGeom>
          <a:solidFill>
            <a:srgbClr val="1E293B"/>
          </a:solidFill>
          <a:ln w="12700">
            <a:solidFill>
              <a:srgbClr val="334155"/>
            </a:solidFill>
            <a:prstDash val="solid"/>
          </a:ln>
        </p:spPr>
      </p:sp>
      <p:sp>
        <p:nvSpPr>
          <p:cNvPr id="12" name="Text 10"/>
          <p:cNvSpPr/>
          <p:nvPr/>
        </p:nvSpPr>
        <p:spPr>
          <a:xfrm>
            <a:off x="1005840" y="3017520"/>
            <a:ext cx="603504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Zero Patient or Facility Data Leakage</a:t>
            </a:r>
            <a:endParaRPr lang="en-US" sz="1200" dirty="0"/>
          </a:p>
        </p:txBody>
      </p:sp>
      <p:sp>
        <p:nvSpPr>
          <p:cNvPr id="13" name="Text 11"/>
          <p:cNvSpPr/>
          <p:nvPr/>
        </p:nvSpPr>
        <p:spPr>
          <a:xfrm>
            <a:off x="1005840" y="3291840"/>
            <a:ext cx="6035040" cy="54864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Local data registers stay on state servers. Zero patient tokens, bed states, or facility stock amounts ever leave state borders.</a:t>
            </a:r>
            <a:endParaRPr lang="en-US" sz="1000" dirty="0"/>
          </a:p>
        </p:txBody>
      </p:sp>
      <p:sp>
        <p:nvSpPr>
          <p:cNvPr id="14" name="Shape 12"/>
          <p:cNvSpPr/>
          <p:nvPr/>
        </p:nvSpPr>
        <p:spPr>
          <a:xfrm>
            <a:off x="731520" y="4114800"/>
            <a:ext cx="6583680" cy="1051560"/>
          </a:xfrm>
          <a:prstGeom prst="roundRect">
            <a:avLst>
              <a:gd name="adj" fmla="val 8696"/>
            </a:avLst>
          </a:prstGeom>
          <a:solidFill>
            <a:srgbClr val="1E293B"/>
          </a:solidFill>
          <a:ln w="12700">
            <a:solidFill>
              <a:srgbClr val="334155"/>
            </a:solidFill>
            <a:prstDash val="solid"/>
          </a:ln>
        </p:spPr>
      </p:sp>
      <p:sp>
        <p:nvSpPr>
          <p:cNvPr id="15" name="Text 13"/>
          <p:cNvSpPr/>
          <p:nvPr/>
        </p:nvSpPr>
        <p:spPr>
          <a:xfrm>
            <a:off x="1005840" y="4251960"/>
            <a:ext cx="603504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Encrypted Gradient Aggregation</a:t>
            </a:r>
            <a:endParaRPr lang="en-US" sz="1200" dirty="0"/>
          </a:p>
        </p:txBody>
      </p:sp>
      <p:sp>
        <p:nvSpPr>
          <p:cNvPr id="16" name="Text 14"/>
          <p:cNvSpPr/>
          <p:nvPr/>
        </p:nvSpPr>
        <p:spPr>
          <a:xfrm>
            <a:off x="1005840" y="4526280"/>
            <a:ext cx="6035040" cy="54864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State nodes (Madhya Pradesh, Maharashtra, Kerala, Assam) train local demand forecasters and exchange only encrypted mathematical model weights.</a:t>
            </a:r>
            <a:endParaRPr lang="en-US" sz="1000" dirty="0"/>
          </a:p>
        </p:txBody>
      </p:sp>
      <p:sp>
        <p:nvSpPr>
          <p:cNvPr id="17" name="Shape 15"/>
          <p:cNvSpPr/>
          <p:nvPr/>
        </p:nvSpPr>
        <p:spPr>
          <a:xfrm>
            <a:off x="7589520" y="1645920"/>
            <a:ext cx="3840480" cy="4251960"/>
          </a:xfrm>
          <a:prstGeom prst="roundRect">
            <a:avLst>
              <a:gd name="adj" fmla="val 3571"/>
            </a:avLst>
          </a:prstGeom>
          <a:solidFill>
            <a:srgbClr val="172033"/>
          </a:solidFill>
          <a:ln w="19050">
            <a:solidFill>
              <a:srgbClr val="14B8A6"/>
            </a:solidFill>
            <a:prstDash val="solid"/>
          </a:ln>
        </p:spPr>
      </p:sp>
      <p:sp>
        <p:nvSpPr>
          <p:cNvPr id="18" name="Text 16"/>
          <p:cNvSpPr/>
          <p:nvPr/>
        </p:nvSpPr>
        <p:spPr>
          <a:xfrm>
            <a:off x="7863840" y="1920240"/>
            <a:ext cx="329184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COLLABORATIVE INTELLIGENCE</a:t>
            </a:r>
            <a:endParaRPr lang="en-US" sz="1100" dirty="0"/>
          </a:p>
        </p:txBody>
      </p:sp>
      <p:sp>
        <p:nvSpPr>
          <p:cNvPr id="19" name="Text 17"/>
          <p:cNvSpPr/>
          <p:nvPr/>
        </p:nvSpPr>
        <p:spPr>
          <a:xfrm>
            <a:off x="7863840" y="2377440"/>
            <a:ext cx="329184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+18.4% Accuracy Gain</a:t>
            </a:r>
            <a:endParaRPr lang="en-US" sz="2400" dirty="0"/>
          </a:p>
        </p:txBody>
      </p:sp>
      <p:sp>
        <p:nvSpPr>
          <p:cNvPr id="20" name="Text 18"/>
          <p:cNvSpPr/>
          <p:nvPr/>
        </p:nvSpPr>
        <p:spPr>
          <a:xfrm>
            <a:off x="7863840" y="2926080"/>
            <a:ext cx="329184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Achieved by state nodes via federated gradient sharing without exchanging a single row of raw data.</a:t>
            </a:r>
            <a:endParaRPr lang="en-US" sz="1000" dirty="0"/>
          </a:p>
        </p:txBody>
      </p:sp>
      <p:sp>
        <p:nvSpPr>
          <p:cNvPr id="21" name="Text 19"/>
          <p:cNvSpPr/>
          <p:nvPr/>
        </p:nvSpPr>
        <p:spPr>
          <a:xfrm>
            <a:off x="7863840" y="3657600"/>
            <a:ext cx="329184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Vector Wave Transfer</a:t>
            </a:r>
            <a:endParaRPr lang="en-US" sz="1300" dirty="0"/>
          </a:p>
        </p:txBody>
      </p:sp>
      <p:sp>
        <p:nvSpPr>
          <p:cNvPr id="22" name="Text 20"/>
          <p:cNvSpPr/>
          <p:nvPr/>
        </p:nvSpPr>
        <p:spPr>
          <a:xfrm>
            <a:off x="7863840" y="4023360"/>
            <a:ext cx="3291840" cy="64008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Kerala's early monsoon surge patterns helped Madhya Pradesh predict its rural fever surge 16.8 days earlier.</a:t>
            </a:r>
            <a:endParaRPr lang="en-US" sz="1000" dirty="0"/>
          </a:p>
        </p:txBody>
      </p:sp>
      <p:sp>
        <p:nvSpPr>
          <p:cNvPr id="23" name="Text 21"/>
          <p:cNvSpPr/>
          <p:nvPr/>
        </p:nvSpPr>
        <p:spPr>
          <a:xfrm>
            <a:off x="7863840" y="4937760"/>
            <a:ext cx="3291840" cy="4572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Compliant With: India Digital Personal Data Protection (DPDP) Act 2023.</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STAKEHOLDERS  |  SLIDE 9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Who It Serves: The Last-Mile Health Ecosystem</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Empowering every tier from rural ANMs to State Health Mission Directors</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9</a:t>
            </a:r>
            <a:endParaRPr lang="en-US" sz="900" dirty="0"/>
          </a:p>
        </p:txBody>
      </p:sp>
      <p:sp>
        <p:nvSpPr>
          <p:cNvPr id="8" name="Shape 6"/>
          <p:cNvSpPr/>
          <p:nvPr/>
        </p:nvSpPr>
        <p:spPr>
          <a:xfrm>
            <a:off x="731520" y="1645920"/>
            <a:ext cx="3383280" cy="4297680"/>
          </a:xfrm>
          <a:prstGeom prst="roundRect">
            <a:avLst>
              <a:gd name="adj" fmla="val 4054"/>
            </a:avLst>
          </a:prstGeom>
          <a:solidFill>
            <a:srgbClr val="1E293B"/>
          </a:solidFill>
          <a:ln w="12700">
            <a:solidFill>
              <a:srgbClr val="334155"/>
            </a:solidFill>
            <a:prstDash val="solid"/>
          </a:ln>
        </p:spPr>
      </p:sp>
      <p:sp>
        <p:nvSpPr>
          <p:cNvPr id="9" name="Text 7"/>
          <p:cNvSpPr/>
          <p:nvPr/>
        </p:nvSpPr>
        <p:spPr>
          <a:xfrm>
            <a:off x="1005840" y="1920240"/>
            <a:ext cx="283464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FRONTLINE STAFF</a:t>
            </a:r>
            <a:endParaRPr lang="en-US" sz="1000" dirty="0"/>
          </a:p>
        </p:txBody>
      </p:sp>
      <p:sp>
        <p:nvSpPr>
          <p:cNvPr id="10" name="Text 8"/>
          <p:cNvSpPr/>
          <p:nvPr/>
        </p:nvSpPr>
        <p:spPr>
          <a:xfrm>
            <a:off x="1005840" y="2240280"/>
            <a:ext cx="28346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Pharmacists, ANMs, Medical Officers</a:t>
            </a:r>
            <a:endParaRPr lang="en-US" sz="1300" dirty="0"/>
          </a:p>
        </p:txBody>
      </p:sp>
      <p:sp>
        <p:nvSpPr>
          <p:cNvPr id="11" name="Text 9"/>
          <p:cNvSpPr/>
          <p:nvPr/>
        </p:nvSpPr>
        <p:spPr>
          <a:xfrm>
            <a:off x="1005840" y="2926080"/>
            <a:ext cx="2834640" cy="228600"/>
          </a:xfrm>
          <a:prstGeom prst="rect">
            <a:avLst/>
          </a:prstGeom>
          <a:noFill/>
          <a:ln/>
        </p:spPr>
        <p:txBody>
          <a:bodyPr wrap="square" rtlCol="0" anchor="ctr"/>
          <a:lstStyle/>
          <a:p>
            <a:pPr indent="0" marL="0">
              <a:buNone/>
            </a:pPr>
            <a:r>
              <a:rPr lang="en-US" sz="900" b="1" dirty="0">
                <a:solidFill>
                  <a:srgbClr val="94A3B8"/>
                </a:solidFill>
                <a:latin typeface="Arial" pitchFamily="34" charset="0"/>
                <a:ea typeface="Arial" pitchFamily="34" charset="-122"/>
                <a:cs typeface="Arial" pitchFamily="34" charset="-120"/>
              </a:rPr>
              <a:t>OPERATIONAL PAIN POINT</a:t>
            </a:r>
            <a:endParaRPr lang="en-US" sz="900" dirty="0"/>
          </a:p>
        </p:txBody>
      </p:sp>
      <p:sp>
        <p:nvSpPr>
          <p:cNvPr id="12" name="Text 10"/>
          <p:cNvSpPr/>
          <p:nvPr/>
        </p:nvSpPr>
        <p:spPr>
          <a:xfrm>
            <a:off x="1005840" y="3154680"/>
            <a:ext cx="2834640" cy="73152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Overworked, low tech literacy, intermittent rural connectivity</a:t>
            </a:r>
            <a:endParaRPr lang="en-US" sz="1000" dirty="0"/>
          </a:p>
        </p:txBody>
      </p:sp>
      <p:sp>
        <p:nvSpPr>
          <p:cNvPr id="13" name="Text 11"/>
          <p:cNvSpPr/>
          <p:nvPr/>
        </p:nvSpPr>
        <p:spPr>
          <a:xfrm>
            <a:off x="1005840" y="4023360"/>
            <a:ext cx="2834640" cy="228600"/>
          </a:xfrm>
          <a:prstGeom prst="rect">
            <a:avLst/>
          </a:prstGeom>
          <a:noFill/>
          <a:ln/>
        </p:spPr>
        <p:txBody>
          <a:bodyPr wrap="square" rtlCol="0" anchor="ctr"/>
          <a:lstStyle/>
          <a:p>
            <a:pPr indent="0" marL="0">
              <a:buNone/>
            </a:pPr>
            <a:r>
              <a:rPr lang="en-US" sz="900" b="1" dirty="0">
                <a:solidFill>
                  <a:srgbClr val="14B8A6"/>
                </a:solidFill>
                <a:latin typeface="Arial" pitchFamily="34" charset="0"/>
                <a:ea typeface="Arial" pitchFamily="34" charset="-122"/>
                <a:cs typeface="Arial" pitchFamily="34" charset="-120"/>
              </a:rPr>
              <a:t>PHC PULSE VALUE DELIVERED</a:t>
            </a:r>
            <a:endParaRPr lang="en-US" sz="900" dirty="0"/>
          </a:p>
        </p:txBody>
      </p:sp>
      <p:sp>
        <p:nvSpPr>
          <p:cNvPr id="14" name="Text 12"/>
          <p:cNvSpPr/>
          <p:nvPr/>
        </p:nvSpPr>
        <p:spPr>
          <a:xfrm>
            <a:off x="1005840" y="4251960"/>
            <a:ext cx="2834640" cy="1463040"/>
          </a:xfrm>
          <a:prstGeom prst="rect">
            <a:avLst/>
          </a:prstGeom>
          <a:noFill/>
          <a:ln/>
        </p:spPr>
        <p:txBody>
          <a:bodyPr wrap="square" rtlCol="0" anchor="ctr"/>
          <a:lstStyle/>
          <a:p>
            <a:pPr indent="0" marL="0">
              <a:lnSpc>
                <a:spcPts val="1400"/>
              </a:lnSpc>
              <a:buNone/>
            </a:pPr>
            <a:r>
              <a:rPr lang="en-US" sz="1000" dirty="0">
                <a:solidFill>
                  <a:srgbClr val="FFFFFF"/>
                </a:solidFill>
                <a:latin typeface="Arial" pitchFamily="34" charset="0"/>
                <a:ea typeface="Arial" pitchFamily="34" charset="-122"/>
                <a:cs typeface="Arial" pitchFamily="34" charset="-120"/>
              </a:rPr>
              <a:t>20-sec voice dispatch or camera photo replaces 45 min of typing. Instant alerts if fridge temperature fails.</a:t>
            </a:r>
            <a:endParaRPr lang="en-US" sz="1000" dirty="0"/>
          </a:p>
        </p:txBody>
      </p:sp>
      <p:sp>
        <p:nvSpPr>
          <p:cNvPr id="15" name="Shape 13"/>
          <p:cNvSpPr/>
          <p:nvPr/>
        </p:nvSpPr>
        <p:spPr>
          <a:xfrm>
            <a:off x="4389120" y="1645920"/>
            <a:ext cx="3383280" cy="4297680"/>
          </a:xfrm>
          <a:prstGeom prst="roundRect">
            <a:avLst>
              <a:gd name="adj" fmla="val 4054"/>
            </a:avLst>
          </a:prstGeom>
          <a:solidFill>
            <a:srgbClr val="1E293B"/>
          </a:solidFill>
          <a:ln w="12700">
            <a:solidFill>
              <a:srgbClr val="334155"/>
            </a:solidFill>
            <a:prstDash val="solid"/>
          </a:ln>
        </p:spPr>
      </p:sp>
      <p:sp>
        <p:nvSpPr>
          <p:cNvPr id="16" name="Text 14"/>
          <p:cNvSpPr/>
          <p:nvPr/>
        </p:nvSpPr>
        <p:spPr>
          <a:xfrm>
            <a:off x="4663440" y="1920240"/>
            <a:ext cx="2834640" cy="274320"/>
          </a:xfrm>
          <a:prstGeom prst="rect">
            <a:avLst/>
          </a:prstGeom>
          <a:noFill/>
          <a:ln/>
        </p:spPr>
        <p:txBody>
          <a:bodyPr wrap="square" rtlCol="0" anchor="ctr"/>
          <a:lstStyle/>
          <a:p>
            <a:pPr indent="0" marL="0">
              <a:buNone/>
            </a:pPr>
            <a:r>
              <a:rPr lang="en-US" sz="1000" b="1" spc="150" kern="0" dirty="0">
                <a:solidFill>
                  <a:srgbClr val="F59E0B"/>
                </a:solidFill>
                <a:latin typeface="Arial" pitchFamily="34" charset="0"/>
                <a:ea typeface="Arial" pitchFamily="34" charset="-122"/>
                <a:cs typeface="Arial" pitchFamily="34" charset="-120"/>
              </a:rPr>
              <a:t>DISTRICT OFFICERS</a:t>
            </a:r>
            <a:endParaRPr lang="en-US" sz="1000" dirty="0"/>
          </a:p>
        </p:txBody>
      </p:sp>
      <p:sp>
        <p:nvSpPr>
          <p:cNvPr id="17" name="Text 15"/>
          <p:cNvSpPr/>
          <p:nvPr/>
        </p:nvSpPr>
        <p:spPr>
          <a:xfrm>
            <a:off x="4663440" y="2240280"/>
            <a:ext cx="28346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Chief Medical Officers (CMOs) &amp; Pharmacists</a:t>
            </a:r>
            <a:endParaRPr lang="en-US" sz="1300" dirty="0"/>
          </a:p>
        </p:txBody>
      </p:sp>
      <p:sp>
        <p:nvSpPr>
          <p:cNvPr id="18" name="Text 16"/>
          <p:cNvSpPr/>
          <p:nvPr/>
        </p:nvSpPr>
        <p:spPr>
          <a:xfrm>
            <a:off x="4663440" y="2926080"/>
            <a:ext cx="2834640" cy="228600"/>
          </a:xfrm>
          <a:prstGeom prst="rect">
            <a:avLst/>
          </a:prstGeom>
          <a:noFill/>
          <a:ln/>
        </p:spPr>
        <p:txBody>
          <a:bodyPr wrap="square" rtlCol="0" anchor="ctr"/>
          <a:lstStyle/>
          <a:p>
            <a:pPr indent="0" marL="0">
              <a:buNone/>
            </a:pPr>
            <a:r>
              <a:rPr lang="en-US" sz="900" b="1" dirty="0">
                <a:solidFill>
                  <a:srgbClr val="94A3B8"/>
                </a:solidFill>
                <a:latin typeface="Arial" pitchFamily="34" charset="0"/>
                <a:ea typeface="Arial" pitchFamily="34" charset="-122"/>
                <a:cs typeface="Arial" pitchFamily="34" charset="-120"/>
              </a:rPr>
              <a:t>OPERATIONAL PAIN POINT</a:t>
            </a:r>
            <a:endParaRPr lang="en-US" sz="900" dirty="0"/>
          </a:p>
        </p:txBody>
      </p:sp>
      <p:sp>
        <p:nvSpPr>
          <p:cNvPr id="19" name="Text 17"/>
          <p:cNvSpPr/>
          <p:nvPr/>
        </p:nvSpPr>
        <p:spPr>
          <a:xfrm>
            <a:off x="4663440" y="3154680"/>
            <a:ext cx="2834640" cy="73152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Responsible for 40–80 PHCs with zero real-time visibility</a:t>
            </a:r>
            <a:endParaRPr lang="en-US" sz="1000" dirty="0"/>
          </a:p>
        </p:txBody>
      </p:sp>
      <p:sp>
        <p:nvSpPr>
          <p:cNvPr id="20" name="Text 18"/>
          <p:cNvSpPr/>
          <p:nvPr/>
        </p:nvSpPr>
        <p:spPr>
          <a:xfrm>
            <a:off x="4663440" y="4023360"/>
            <a:ext cx="2834640" cy="22860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PHC PULSE VALUE DELIVERED</a:t>
            </a:r>
            <a:endParaRPr lang="en-US" sz="900" dirty="0"/>
          </a:p>
        </p:txBody>
      </p:sp>
      <p:sp>
        <p:nvSpPr>
          <p:cNvPr id="21" name="Text 19"/>
          <p:cNvSpPr/>
          <p:nvPr/>
        </p:nvSpPr>
        <p:spPr>
          <a:xfrm>
            <a:off x="4663440" y="4251960"/>
            <a:ext cx="2834640" cy="1463040"/>
          </a:xfrm>
          <a:prstGeom prst="rect">
            <a:avLst/>
          </a:prstGeom>
          <a:noFill/>
          <a:ln/>
        </p:spPr>
        <p:txBody>
          <a:bodyPr wrap="square" rtlCol="0" anchor="ctr"/>
          <a:lstStyle/>
          <a:p>
            <a:pPr indent="0" marL="0">
              <a:lnSpc>
                <a:spcPts val="1400"/>
              </a:lnSpc>
              <a:buNone/>
            </a:pPr>
            <a:r>
              <a:rPr lang="en-US" sz="1000" dirty="0">
                <a:solidFill>
                  <a:srgbClr val="FFFFFF"/>
                </a:solidFill>
                <a:latin typeface="Arial" pitchFamily="34" charset="0"/>
                <a:ea typeface="Arial" pitchFamily="34" charset="-122"/>
                <a:cs typeface="Arial" pitchFamily="34" charset="-120"/>
              </a:rPr>
              <a:t>Natural language Q&amp;A co-pilot, automated risk rankings, and 1-click inter-facility redistribution orders.</a:t>
            </a:r>
            <a:endParaRPr lang="en-US" sz="1000" dirty="0"/>
          </a:p>
        </p:txBody>
      </p:sp>
      <p:sp>
        <p:nvSpPr>
          <p:cNvPr id="22" name="Shape 20"/>
          <p:cNvSpPr/>
          <p:nvPr/>
        </p:nvSpPr>
        <p:spPr>
          <a:xfrm>
            <a:off x="8046720" y="1645920"/>
            <a:ext cx="3383280" cy="4297680"/>
          </a:xfrm>
          <a:prstGeom prst="roundRect">
            <a:avLst>
              <a:gd name="adj" fmla="val 4054"/>
            </a:avLst>
          </a:prstGeom>
          <a:solidFill>
            <a:srgbClr val="1E293B"/>
          </a:solidFill>
          <a:ln w="12700">
            <a:solidFill>
              <a:srgbClr val="334155"/>
            </a:solidFill>
            <a:prstDash val="solid"/>
          </a:ln>
        </p:spPr>
      </p:sp>
      <p:sp>
        <p:nvSpPr>
          <p:cNvPr id="23" name="Text 21"/>
          <p:cNvSpPr/>
          <p:nvPr/>
        </p:nvSpPr>
        <p:spPr>
          <a:xfrm>
            <a:off x="8321040" y="1920240"/>
            <a:ext cx="2834640" cy="274320"/>
          </a:xfrm>
          <a:prstGeom prst="rect">
            <a:avLst/>
          </a:prstGeom>
          <a:noFill/>
          <a:ln/>
        </p:spPr>
        <p:txBody>
          <a:bodyPr wrap="square" rtlCol="0" anchor="ctr"/>
          <a:lstStyle/>
          <a:p>
            <a:pPr indent="0" marL="0">
              <a:buNone/>
            </a:pPr>
            <a:r>
              <a:rPr lang="en-US" sz="1000" b="1" spc="150" kern="0" dirty="0">
                <a:solidFill>
                  <a:srgbClr val="10B981"/>
                </a:solidFill>
                <a:latin typeface="Arial" pitchFamily="34" charset="0"/>
                <a:ea typeface="Arial" pitchFamily="34" charset="-122"/>
                <a:cs typeface="Arial" pitchFamily="34" charset="-120"/>
              </a:rPr>
              <a:t>STATE LEADERSHIP</a:t>
            </a:r>
            <a:endParaRPr lang="en-US" sz="1000" dirty="0"/>
          </a:p>
        </p:txBody>
      </p:sp>
      <p:sp>
        <p:nvSpPr>
          <p:cNvPr id="24" name="Text 22"/>
          <p:cNvSpPr/>
          <p:nvPr/>
        </p:nvSpPr>
        <p:spPr>
          <a:xfrm>
            <a:off x="8321040" y="2240280"/>
            <a:ext cx="28346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National Health Mission (NHM) Directors</a:t>
            </a:r>
            <a:endParaRPr lang="en-US" sz="1300" dirty="0"/>
          </a:p>
        </p:txBody>
      </p:sp>
      <p:sp>
        <p:nvSpPr>
          <p:cNvPr id="25" name="Text 23"/>
          <p:cNvSpPr/>
          <p:nvPr/>
        </p:nvSpPr>
        <p:spPr>
          <a:xfrm>
            <a:off x="8321040" y="2926080"/>
            <a:ext cx="2834640" cy="228600"/>
          </a:xfrm>
          <a:prstGeom prst="rect">
            <a:avLst/>
          </a:prstGeom>
          <a:noFill/>
          <a:ln/>
        </p:spPr>
        <p:txBody>
          <a:bodyPr wrap="square" rtlCol="0" anchor="ctr"/>
          <a:lstStyle/>
          <a:p>
            <a:pPr indent="0" marL="0">
              <a:buNone/>
            </a:pPr>
            <a:r>
              <a:rPr lang="en-US" sz="900" b="1" dirty="0">
                <a:solidFill>
                  <a:srgbClr val="94A3B8"/>
                </a:solidFill>
                <a:latin typeface="Arial" pitchFamily="34" charset="0"/>
                <a:ea typeface="Arial" pitchFamily="34" charset="-122"/>
                <a:cs typeface="Arial" pitchFamily="34" charset="-120"/>
              </a:rPr>
              <a:t>OPERATIONAL PAIN POINT</a:t>
            </a:r>
            <a:endParaRPr lang="en-US" sz="900" dirty="0"/>
          </a:p>
        </p:txBody>
      </p:sp>
      <p:sp>
        <p:nvSpPr>
          <p:cNvPr id="26" name="Text 24"/>
          <p:cNvSpPr/>
          <p:nvPr/>
        </p:nvSpPr>
        <p:spPr>
          <a:xfrm>
            <a:off x="8321040" y="3154680"/>
            <a:ext cx="2834640" cy="73152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Macro-level supply resilience &amp; epidemic surge preparedness</a:t>
            </a:r>
            <a:endParaRPr lang="en-US" sz="1000" dirty="0"/>
          </a:p>
        </p:txBody>
      </p:sp>
      <p:sp>
        <p:nvSpPr>
          <p:cNvPr id="27" name="Text 25"/>
          <p:cNvSpPr/>
          <p:nvPr/>
        </p:nvSpPr>
        <p:spPr>
          <a:xfrm>
            <a:off x="8321040" y="4023360"/>
            <a:ext cx="2834640" cy="228600"/>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PHC PULSE VALUE DELIVERED</a:t>
            </a:r>
            <a:endParaRPr lang="en-US" sz="900" dirty="0"/>
          </a:p>
        </p:txBody>
      </p:sp>
      <p:sp>
        <p:nvSpPr>
          <p:cNvPr id="28" name="Text 26"/>
          <p:cNvSpPr/>
          <p:nvPr/>
        </p:nvSpPr>
        <p:spPr>
          <a:xfrm>
            <a:off x="8321040" y="4251960"/>
            <a:ext cx="2834640" cy="1463040"/>
          </a:xfrm>
          <a:prstGeom prst="rect">
            <a:avLst/>
          </a:prstGeom>
          <a:noFill/>
          <a:ln/>
        </p:spPr>
        <p:txBody>
          <a:bodyPr wrap="square" rtlCol="0" anchor="ctr"/>
          <a:lstStyle/>
          <a:p>
            <a:pPr indent="0" marL="0">
              <a:lnSpc>
                <a:spcPts val="1400"/>
              </a:lnSpc>
              <a:buNone/>
            </a:pPr>
            <a:r>
              <a:rPr lang="en-US" sz="1000" dirty="0">
                <a:solidFill>
                  <a:srgbClr val="FFFFFF"/>
                </a:solidFill>
                <a:latin typeface="Arial" pitchFamily="34" charset="0"/>
                <a:ea typeface="Arial" pitchFamily="34" charset="-122"/>
                <a:cs typeface="Arial" pitchFamily="34" charset="-120"/>
              </a:rPr>
              <a:t>State warehouse tracking, procurement reallocation before monsoons, and federated cross-state learning.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DEPLOYABILITY  |  SLIDE 10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Why It Is Deployable in India Today</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Zero hardware procurement. Zero disruption to existing physical registers.</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10</a:t>
            </a:r>
            <a:endParaRPr lang="en-US" sz="900" dirty="0"/>
          </a:p>
        </p:txBody>
      </p:sp>
      <p:sp>
        <p:nvSpPr>
          <p:cNvPr id="8" name="Shape 6"/>
          <p:cNvSpPr/>
          <p:nvPr/>
        </p:nvSpPr>
        <p:spPr>
          <a:xfrm>
            <a:off x="731520" y="1645920"/>
            <a:ext cx="5120640" cy="1508760"/>
          </a:xfrm>
          <a:prstGeom prst="roundRect">
            <a:avLst>
              <a:gd name="adj" fmla="val 7273"/>
            </a:avLst>
          </a:prstGeom>
          <a:solidFill>
            <a:srgbClr val="1E293B"/>
          </a:solidFill>
          <a:ln w="12700">
            <a:solidFill>
              <a:srgbClr val="334155"/>
            </a:solidFill>
            <a:prstDash val="solid"/>
          </a:ln>
        </p:spPr>
      </p:sp>
      <p:sp>
        <p:nvSpPr>
          <p:cNvPr id="9" name="Text 7"/>
          <p:cNvSpPr/>
          <p:nvPr/>
        </p:nvSpPr>
        <p:spPr>
          <a:xfrm>
            <a:off x="1005840" y="1828800"/>
            <a:ext cx="4572000" cy="320040"/>
          </a:xfrm>
          <a:prstGeom prst="rect">
            <a:avLst/>
          </a:prstGeom>
          <a:noFill/>
          <a:ln/>
        </p:spPr>
        <p:txBody>
          <a:bodyPr wrap="square" rtlCol="0" anchor="ctr"/>
          <a:lstStyle/>
          <a:p>
            <a:pPr indent="0" marL="0">
              <a:buNone/>
            </a:pPr>
            <a:r>
              <a:rPr lang="en-US" sz="1250" b="1" dirty="0">
                <a:solidFill>
                  <a:srgbClr val="14B8A6"/>
                </a:solidFill>
                <a:latin typeface="Arial" pitchFamily="34" charset="0"/>
                <a:ea typeface="Arial" pitchFamily="34" charset="-122"/>
                <a:cs typeface="Arial" pitchFamily="34" charset="-120"/>
              </a:rPr>
              <a:t>Runs on Existing Hardware</a:t>
            </a:r>
            <a:endParaRPr lang="en-US" sz="1250" dirty="0"/>
          </a:p>
        </p:txBody>
      </p:sp>
      <p:sp>
        <p:nvSpPr>
          <p:cNvPr id="10" name="Text 8"/>
          <p:cNvSpPr/>
          <p:nvPr/>
        </p:nvSpPr>
        <p:spPr>
          <a:xfrm>
            <a:off x="1005840" y="2194560"/>
            <a:ext cx="4572000" cy="86868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Works on standard entry-level Android smartphones (1GB RAM, 3G/4G connectivity) via lightweight web applet or WhatsApp bot interface.</a:t>
            </a:r>
            <a:endParaRPr lang="en-US" sz="1000" dirty="0"/>
          </a:p>
        </p:txBody>
      </p:sp>
      <p:sp>
        <p:nvSpPr>
          <p:cNvPr id="11" name="Shape 9"/>
          <p:cNvSpPr/>
          <p:nvPr/>
        </p:nvSpPr>
        <p:spPr>
          <a:xfrm>
            <a:off x="6126480" y="1645920"/>
            <a:ext cx="5120640" cy="1508760"/>
          </a:xfrm>
          <a:prstGeom prst="roundRect">
            <a:avLst>
              <a:gd name="adj" fmla="val 7273"/>
            </a:avLst>
          </a:prstGeom>
          <a:solidFill>
            <a:srgbClr val="1E293B"/>
          </a:solidFill>
          <a:ln w="12700">
            <a:solidFill>
              <a:srgbClr val="334155"/>
            </a:solidFill>
            <a:prstDash val="solid"/>
          </a:ln>
        </p:spPr>
      </p:sp>
      <p:sp>
        <p:nvSpPr>
          <p:cNvPr id="12" name="Text 10"/>
          <p:cNvSpPr/>
          <p:nvPr/>
        </p:nvSpPr>
        <p:spPr>
          <a:xfrm>
            <a:off x="6400800" y="1828800"/>
            <a:ext cx="4572000" cy="320040"/>
          </a:xfrm>
          <a:prstGeom prst="rect">
            <a:avLst/>
          </a:prstGeom>
          <a:noFill/>
          <a:ln/>
        </p:spPr>
        <p:txBody>
          <a:bodyPr wrap="square" rtlCol="0" anchor="ctr"/>
          <a:lstStyle/>
          <a:p>
            <a:pPr indent="0" marL="0">
              <a:buNone/>
            </a:pPr>
            <a:r>
              <a:rPr lang="en-US" sz="1250" b="1" dirty="0">
                <a:solidFill>
                  <a:srgbClr val="14B8A6"/>
                </a:solidFill>
                <a:latin typeface="Arial" pitchFamily="34" charset="0"/>
                <a:ea typeface="Arial" pitchFamily="34" charset="-122"/>
                <a:cs typeface="Arial" pitchFamily="34" charset="-120"/>
              </a:rPr>
              <a:t>Physical Ledgers Remain Intact</a:t>
            </a:r>
            <a:endParaRPr lang="en-US" sz="1250" dirty="0"/>
          </a:p>
        </p:txBody>
      </p:sp>
      <p:sp>
        <p:nvSpPr>
          <p:cNvPr id="13" name="Text 11"/>
          <p:cNvSpPr/>
          <p:nvPr/>
        </p:nvSpPr>
        <p:spPr>
          <a:xfrm>
            <a:off x="6400800" y="2194560"/>
            <a:ext cx="4572000" cy="86868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No need to discard government physical registers. Staff write as usual; PHC Pulse digitizes directly from the handwritten page.</a:t>
            </a:r>
            <a:endParaRPr lang="en-US" sz="1000" dirty="0"/>
          </a:p>
        </p:txBody>
      </p:sp>
      <p:sp>
        <p:nvSpPr>
          <p:cNvPr id="14" name="Shape 12"/>
          <p:cNvSpPr/>
          <p:nvPr/>
        </p:nvSpPr>
        <p:spPr>
          <a:xfrm>
            <a:off x="731520" y="3383280"/>
            <a:ext cx="5120640" cy="1508760"/>
          </a:xfrm>
          <a:prstGeom prst="roundRect">
            <a:avLst>
              <a:gd name="adj" fmla="val 7273"/>
            </a:avLst>
          </a:prstGeom>
          <a:solidFill>
            <a:srgbClr val="1E293B"/>
          </a:solidFill>
          <a:ln w="12700">
            <a:solidFill>
              <a:srgbClr val="334155"/>
            </a:solidFill>
            <a:prstDash val="solid"/>
          </a:ln>
        </p:spPr>
      </p:sp>
      <p:sp>
        <p:nvSpPr>
          <p:cNvPr id="15" name="Text 13"/>
          <p:cNvSpPr/>
          <p:nvPr/>
        </p:nvSpPr>
        <p:spPr>
          <a:xfrm>
            <a:off x="1005840" y="3566160"/>
            <a:ext cx="4572000" cy="320040"/>
          </a:xfrm>
          <a:prstGeom prst="rect">
            <a:avLst/>
          </a:prstGeom>
          <a:noFill/>
          <a:ln/>
        </p:spPr>
        <p:txBody>
          <a:bodyPr wrap="square" rtlCol="0" anchor="ctr"/>
          <a:lstStyle/>
          <a:p>
            <a:pPr indent="0" marL="0">
              <a:buNone/>
            </a:pPr>
            <a:r>
              <a:rPr lang="en-US" sz="1250" b="1" dirty="0">
                <a:solidFill>
                  <a:srgbClr val="14B8A6"/>
                </a:solidFill>
                <a:latin typeface="Arial" pitchFamily="34" charset="0"/>
                <a:ea typeface="Arial" pitchFamily="34" charset="-122"/>
                <a:cs typeface="Arial" pitchFamily="34" charset="-120"/>
              </a:rPr>
              <a:t>Low Bandwidth &amp; Offline Resilient</a:t>
            </a:r>
            <a:endParaRPr lang="en-US" sz="1250" dirty="0"/>
          </a:p>
        </p:txBody>
      </p:sp>
      <p:sp>
        <p:nvSpPr>
          <p:cNvPr id="16" name="Text 14"/>
          <p:cNvSpPr/>
          <p:nvPr/>
        </p:nvSpPr>
        <p:spPr>
          <a:xfrm>
            <a:off x="1005840" y="3931920"/>
            <a:ext cx="4572000" cy="86868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Client-side image and audio compression ensures fast upload even on 2G/3G connections, with cached emergency schemas.</a:t>
            </a:r>
            <a:endParaRPr lang="en-US" sz="1000" dirty="0"/>
          </a:p>
        </p:txBody>
      </p:sp>
      <p:sp>
        <p:nvSpPr>
          <p:cNvPr id="17" name="Shape 15"/>
          <p:cNvSpPr/>
          <p:nvPr/>
        </p:nvSpPr>
        <p:spPr>
          <a:xfrm>
            <a:off x="6126480" y="3383280"/>
            <a:ext cx="5120640" cy="1508760"/>
          </a:xfrm>
          <a:prstGeom prst="roundRect">
            <a:avLst>
              <a:gd name="adj" fmla="val 7273"/>
            </a:avLst>
          </a:prstGeom>
          <a:solidFill>
            <a:srgbClr val="1E293B"/>
          </a:solidFill>
          <a:ln w="12700">
            <a:solidFill>
              <a:srgbClr val="334155"/>
            </a:solidFill>
            <a:prstDash val="solid"/>
          </a:ln>
        </p:spPr>
      </p:sp>
      <p:sp>
        <p:nvSpPr>
          <p:cNvPr id="18" name="Text 16"/>
          <p:cNvSpPr/>
          <p:nvPr/>
        </p:nvSpPr>
        <p:spPr>
          <a:xfrm>
            <a:off x="6400800" y="3566160"/>
            <a:ext cx="4572000" cy="320040"/>
          </a:xfrm>
          <a:prstGeom prst="rect">
            <a:avLst/>
          </a:prstGeom>
          <a:noFill/>
          <a:ln/>
        </p:spPr>
        <p:txBody>
          <a:bodyPr wrap="square" rtlCol="0" anchor="ctr"/>
          <a:lstStyle/>
          <a:p>
            <a:pPr indent="0" marL="0">
              <a:buNone/>
            </a:pPr>
            <a:r>
              <a:rPr lang="en-US" sz="1250" b="1" dirty="0">
                <a:solidFill>
                  <a:srgbClr val="14B8A6"/>
                </a:solidFill>
                <a:latin typeface="Arial" pitchFamily="34" charset="0"/>
                <a:ea typeface="Arial" pitchFamily="34" charset="-122"/>
                <a:cs typeface="Arial" pitchFamily="34" charset="-120"/>
              </a:rPr>
              <a:t>Zero Retraining Overhead</a:t>
            </a:r>
            <a:endParaRPr lang="en-US" sz="1250" dirty="0"/>
          </a:p>
        </p:txBody>
      </p:sp>
      <p:sp>
        <p:nvSpPr>
          <p:cNvPr id="19" name="Text 17"/>
          <p:cNvSpPr/>
          <p:nvPr/>
        </p:nvSpPr>
        <p:spPr>
          <a:xfrm>
            <a:off x="6400800" y="3931920"/>
            <a:ext cx="4572000" cy="86868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Frontline staff require zero software training: speak in native language or take a photo. AI handles structure, translation &amp; standardization.</a:t>
            </a:r>
            <a:endParaRPr lang="en-US" sz="1000" dirty="0"/>
          </a:p>
        </p:txBody>
      </p:sp>
      <p:sp>
        <p:nvSpPr>
          <p:cNvPr id="20" name="Shape 18"/>
          <p:cNvSpPr/>
          <p:nvPr/>
        </p:nvSpPr>
        <p:spPr>
          <a:xfrm>
            <a:off x="731520" y="5166360"/>
            <a:ext cx="10515600" cy="822960"/>
          </a:xfrm>
          <a:prstGeom prst="roundRect">
            <a:avLst>
              <a:gd name="adj" fmla="val 11111"/>
            </a:avLst>
          </a:prstGeom>
          <a:solidFill>
            <a:srgbClr val="1E293B"/>
          </a:solidFill>
          <a:ln w="12700">
            <a:solidFill>
              <a:srgbClr val="0F766E"/>
            </a:solidFill>
            <a:prstDash val="solid"/>
          </a:ln>
        </p:spPr>
      </p:sp>
      <p:sp>
        <p:nvSpPr>
          <p:cNvPr id="21" name="Text 19"/>
          <p:cNvSpPr/>
          <p:nvPr/>
        </p:nvSpPr>
        <p:spPr>
          <a:xfrm>
            <a:off x="914400" y="5257800"/>
            <a:ext cx="10149840" cy="64008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Deployment Timeline: A district pilot of 50 PHCs can be fully active within 48 hours without awaiting capital expenditure approvals or complex IT server installations.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NATIONAL SCALABILITY  |  SLIDE 11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Scaling Across India: State → District → PHC Grid</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From 4 pilot state nodes to all 28 States and 8 Union Territories</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11</a:t>
            </a:r>
            <a:endParaRPr lang="en-US" sz="900" dirty="0"/>
          </a:p>
        </p:txBody>
      </p:sp>
      <p:sp>
        <p:nvSpPr>
          <p:cNvPr id="8" name="Shape 6"/>
          <p:cNvSpPr/>
          <p:nvPr/>
        </p:nvSpPr>
        <p:spPr>
          <a:xfrm>
            <a:off x="731520" y="1645920"/>
            <a:ext cx="6583680" cy="1051560"/>
          </a:xfrm>
          <a:prstGeom prst="roundRect">
            <a:avLst>
              <a:gd name="adj" fmla="val 8696"/>
            </a:avLst>
          </a:prstGeom>
          <a:solidFill>
            <a:srgbClr val="1E293B"/>
          </a:solidFill>
          <a:ln w="12700">
            <a:solidFill>
              <a:srgbClr val="334155"/>
            </a:solidFill>
            <a:prstDash val="solid"/>
          </a:ln>
        </p:spPr>
      </p:sp>
      <p:sp>
        <p:nvSpPr>
          <p:cNvPr id="9" name="Text 7"/>
          <p:cNvSpPr/>
          <p:nvPr/>
        </p:nvSpPr>
        <p:spPr>
          <a:xfrm>
            <a:off x="1005840" y="1783080"/>
            <a:ext cx="6035040" cy="228600"/>
          </a:xfrm>
          <a:prstGeom prst="rect">
            <a:avLst/>
          </a:prstGeom>
          <a:noFill/>
          <a:ln/>
        </p:spPr>
        <p:txBody>
          <a:bodyPr wrap="square" rtlCol="0" anchor="ctr"/>
          <a:lstStyle/>
          <a:p>
            <a:pPr indent="0" marL="0">
              <a:buNone/>
            </a:pPr>
            <a:r>
              <a:rPr lang="en-US" sz="1000" b="1" dirty="0">
                <a:solidFill>
                  <a:srgbClr val="14B8A6"/>
                </a:solidFill>
                <a:latin typeface="Arial" pitchFamily="34" charset="0"/>
                <a:ea typeface="Arial" pitchFamily="34" charset="-122"/>
                <a:cs typeface="Arial" pitchFamily="34" charset="-120"/>
              </a:rPr>
              <a:t>TIER 1: STATE WAREHOUSE (SW)</a:t>
            </a:r>
            <a:endParaRPr lang="en-US" sz="1000" dirty="0"/>
          </a:p>
        </p:txBody>
      </p:sp>
      <p:sp>
        <p:nvSpPr>
          <p:cNvPr id="10" name="Text 8"/>
          <p:cNvSpPr/>
          <p:nvPr/>
        </p:nvSpPr>
        <p:spPr>
          <a:xfrm>
            <a:off x="1005840" y="2057400"/>
            <a:ext cx="6035040" cy="54864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Bulk procurement depots (e.g. SW-MP, SW-MH, SW-KL, SW-AS). Manages state buffers and cold-chain primary generators.</a:t>
            </a:r>
            <a:endParaRPr lang="en-US" sz="1000" dirty="0"/>
          </a:p>
        </p:txBody>
      </p:sp>
      <p:sp>
        <p:nvSpPr>
          <p:cNvPr id="11" name="Shape 9"/>
          <p:cNvSpPr/>
          <p:nvPr/>
        </p:nvSpPr>
        <p:spPr>
          <a:xfrm>
            <a:off x="731520" y="2880360"/>
            <a:ext cx="6583680" cy="1051560"/>
          </a:xfrm>
          <a:prstGeom prst="roundRect">
            <a:avLst>
              <a:gd name="adj" fmla="val 8696"/>
            </a:avLst>
          </a:prstGeom>
          <a:solidFill>
            <a:srgbClr val="1E293B"/>
          </a:solidFill>
          <a:ln w="12700">
            <a:solidFill>
              <a:srgbClr val="334155"/>
            </a:solidFill>
            <a:prstDash val="solid"/>
          </a:ln>
        </p:spPr>
      </p:sp>
      <p:sp>
        <p:nvSpPr>
          <p:cNvPr id="12" name="Text 10"/>
          <p:cNvSpPr/>
          <p:nvPr/>
        </p:nvSpPr>
        <p:spPr>
          <a:xfrm>
            <a:off x="1005840" y="3017520"/>
            <a:ext cx="6035040" cy="228600"/>
          </a:xfrm>
          <a:prstGeom prst="rect">
            <a:avLst/>
          </a:prstGeom>
          <a:noFill/>
          <a:ln/>
        </p:spPr>
        <p:txBody>
          <a:bodyPr wrap="square" rtlCol="0" anchor="ctr"/>
          <a:lstStyle/>
          <a:p>
            <a:pPr indent="0" marL="0">
              <a:buNone/>
            </a:pPr>
            <a:r>
              <a:rPr lang="en-US" sz="1000" b="1" dirty="0">
                <a:solidFill>
                  <a:srgbClr val="14B8A6"/>
                </a:solidFill>
                <a:latin typeface="Arial" pitchFamily="34" charset="0"/>
                <a:ea typeface="Arial" pitchFamily="34" charset="-122"/>
                <a:cs typeface="Arial" pitchFamily="34" charset="-120"/>
              </a:rPr>
              <a:t>TIER 2: DISTRICT WAREHOUSE (DW)</a:t>
            </a:r>
            <a:endParaRPr lang="en-US" sz="1000" dirty="0"/>
          </a:p>
        </p:txBody>
      </p:sp>
      <p:sp>
        <p:nvSpPr>
          <p:cNvPr id="13" name="Text 11"/>
          <p:cNvSpPr/>
          <p:nvPr/>
        </p:nvSpPr>
        <p:spPr>
          <a:xfrm>
            <a:off x="1005840" y="3291840"/>
            <a:ext cx="6035040" cy="54864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Over 750 district distribution centres (e.g. DW-MP-01 Indore, DW-KL-06 Wayanad). Controls intra-district emergency reallocation.</a:t>
            </a:r>
            <a:endParaRPr lang="en-US" sz="1000" dirty="0"/>
          </a:p>
        </p:txBody>
      </p:sp>
      <p:sp>
        <p:nvSpPr>
          <p:cNvPr id="14" name="Shape 12"/>
          <p:cNvSpPr/>
          <p:nvPr/>
        </p:nvSpPr>
        <p:spPr>
          <a:xfrm>
            <a:off x="731520" y="4114800"/>
            <a:ext cx="6583680" cy="1051560"/>
          </a:xfrm>
          <a:prstGeom prst="roundRect">
            <a:avLst>
              <a:gd name="adj" fmla="val 8696"/>
            </a:avLst>
          </a:prstGeom>
          <a:solidFill>
            <a:srgbClr val="1E293B"/>
          </a:solidFill>
          <a:ln w="12700">
            <a:solidFill>
              <a:srgbClr val="334155"/>
            </a:solidFill>
            <a:prstDash val="solid"/>
          </a:ln>
        </p:spPr>
      </p:sp>
      <p:sp>
        <p:nvSpPr>
          <p:cNvPr id="15" name="Text 13"/>
          <p:cNvSpPr/>
          <p:nvPr/>
        </p:nvSpPr>
        <p:spPr>
          <a:xfrm>
            <a:off x="1005840" y="4251960"/>
            <a:ext cx="6035040" cy="228600"/>
          </a:xfrm>
          <a:prstGeom prst="rect">
            <a:avLst/>
          </a:prstGeom>
          <a:noFill/>
          <a:ln/>
        </p:spPr>
        <p:txBody>
          <a:bodyPr wrap="square" rtlCol="0" anchor="ctr"/>
          <a:lstStyle/>
          <a:p>
            <a:pPr indent="0" marL="0">
              <a:buNone/>
            </a:pPr>
            <a:r>
              <a:rPr lang="en-US" sz="1000" b="1" dirty="0">
                <a:solidFill>
                  <a:srgbClr val="14B8A6"/>
                </a:solidFill>
                <a:latin typeface="Arial" pitchFamily="34" charset="0"/>
                <a:ea typeface="Arial" pitchFamily="34" charset="-122"/>
                <a:cs typeface="Arial" pitchFamily="34" charset="-120"/>
              </a:rPr>
              <a:t>TIER 3: PRIMARY HEALTH CENTRES (PHCs)</a:t>
            </a:r>
            <a:endParaRPr lang="en-US" sz="1000" dirty="0"/>
          </a:p>
        </p:txBody>
      </p:sp>
      <p:sp>
        <p:nvSpPr>
          <p:cNvPr id="16" name="Text 14"/>
          <p:cNvSpPr/>
          <p:nvPr/>
        </p:nvSpPr>
        <p:spPr>
          <a:xfrm>
            <a:off x="1005840" y="4526280"/>
            <a:ext cx="6035040" cy="548640"/>
          </a:xfrm>
          <a:prstGeom prst="rect">
            <a:avLst/>
          </a:prstGeom>
          <a:noFill/>
          <a:ln/>
        </p:spPr>
        <p:txBody>
          <a:bodyPr wrap="square" rtlCol="0" anchor="ctr"/>
          <a:lstStyle/>
          <a:p>
            <a:pPr indent="0" marL="0">
              <a:lnSpc>
                <a:spcPts val="1300"/>
              </a:lnSpc>
              <a:buNone/>
            </a:pPr>
            <a:r>
              <a:rPr lang="en-US" sz="1000" dirty="0">
                <a:solidFill>
                  <a:srgbClr val="E2E8F0"/>
                </a:solidFill>
                <a:latin typeface="Arial" pitchFamily="34" charset="0"/>
                <a:ea typeface="Arial" pitchFamily="34" charset="-122"/>
                <a:cs typeface="Arial" pitchFamily="34" charset="-120"/>
              </a:rPr>
              <a:t>Over 30,000 rural facilities at the last mile. Ingests daily dispensed counts, bed vacancies, and staff attendance.</a:t>
            </a:r>
            <a:endParaRPr lang="en-US" sz="1000" dirty="0"/>
          </a:p>
        </p:txBody>
      </p:sp>
      <p:sp>
        <p:nvSpPr>
          <p:cNvPr id="17" name="Shape 15"/>
          <p:cNvSpPr/>
          <p:nvPr/>
        </p:nvSpPr>
        <p:spPr>
          <a:xfrm>
            <a:off x="7589520" y="1645920"/>
            <a:ext cx="3840480" cy="4251960"/>
          </a:xfrm>
          <a:prstGeom prst="roundRect">
            <a:avLst>
              <a:gd name="adj" fmla="val 3571"/>
            </a:avLst>
          </a:prstGeom>
          <a:solidFill>
            <a:srgbClr val="172033"/>
          </a:solidFill>
          <a:ln w="19050">
            <a:solidFill>
              <a:srgbClr val="14B8A6"/>
            </a:solidFill>
            <a:prstDash val="solid"/>
          </a:ln>
        </p:spPr>
      </p:sp>
      <p:sp>
        <p:nvSpPr>
          <p:cNvPr id="18" name="Text 16"/>
          <p:cNvSpPr/>
          <p:nvPr/>
        </p:nvSpPr>
        <p:spPr>
          <a:xfrm>
            <a:off x="7863840" y="1920240"/>
            <a:ext cx="329184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NATIONAL INTEGRATION PIPELINES</a:t>
            </a:r>
            <a:endParaRPr lang="en-US" sz="1100" dirty="0"/>
          </a:p>
        </p:txBody>
      </p:sp>
      <p:sp>
        <p:nvSpPr>
          <p:cNvPr id="19" name="Text 17"/>
          <p:cNvSpPr/>
          <p:nvPr/>
        </p:nvSpPr>
        <p:spPr>
          <a:xfrm>
            <a:off x="7863840" y="2377440"/>
            <a:ext cx="329184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e-Aushadhi &amp; DVDMS API</a:t>
            </a:r>
            <a:endParaRPr lang="en-US" sz="1300" dirty="0"/>
          </a:p>
        </p:txBody>
      </p:sp>
      <p:sp>
        <p:nvSpPr>
          <p:cNvPr id="20" name="Text 18"/>
          <p:cNvSpPr/>
          <p:nvPr/>
        </p:nvSpPr>
        <p:spPr>
          <a:xfrm>
            <a:off x="7863840" y="2697480"/>
            <a:ext cx="3291840" cy="548640"/>
          </a:xfrm>
          <a:prstGeom prst="rect">
            <a:avLst/>
          </a:prstGeom>
          <a:noFill/>
          <a:ln/>
        </p:spPr>
        <p:txBody>
          <a:bodyPr wrap="square" rtlCol="0" anchor="ctr"/>
          <a:lstStyle/>
          <a:p>
            <a:pPr indent="0" marL="0">
              <a:buNone/>
            </a:pPr>
            <a:r>
              <a:rPr lang="en-US" sz="950" dirty="0">
                <a:solidFill>
                  <a:srgbClr val="E2E8F0"/>
                </a:solidFill>
                <a:latin typeface="Arial" pitchFamily="34" charset="0"/>
                <a:ea typeface="Arial" pitchFamily="34" charset="-122"/>
                <a:cs typeface="Arial" pitchFamily="34" charset="-120"/>
              </a:rPr>
              <a:t>Bi-directional sync pushes parsed digital records directly into central government drug inventory databases.</a:t>
            </a:r>
            <a:endParaRPr lang="en-US" sz="950" dirty="0"/>
          </a:p>
        </p:txBody>
      </p:sp>
      <p:sp>
        <p:nvSpPr>
          <p:cNvPr id="21" name="Text 19"/>
          <p:cNvSpPr/>
          <p:nvPr/>
        </p:nvSpPr>
        <p:spPr>
          <a:xfrm>
            <a:off x="7863840" y="3383280"/>
            <a:ext cx="329184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IHIP Outbreak Linkage</a:t>
            </a:r>
            <a:endParaRPr lang="en-US" sz="1300" dirty="0"/>
          </a:p>
        </p:txBody>
      </p:sp>
      <p:sp>
        <p:nvSpPr>
          <p:cNvPr id="22" name="Text 20"/>
          <p:cNvSpPr/>
          <p:nvPr/>
        </p:nvSpPr>
        <p:spPr>
          <a:xfrm>
            <a:off x="7863840" y="3703320"/>
            <a:ext cx="3291840" cy="548640"/>
          </a:xfrm>
          <a:prstGeom prst="rect">
            <a:avLst/>
          </a:prstGeom>
          <a:noFill/>
          <a:ln/>
        </p:spPr>
        <p:txBody>
          <a:bodyPr wrap="square" rtlCol="0" anchor="ctr"/>
          <a:lstStyle/>
          <a:p>
            <a:pPr indent="0" marL="0">
              <a:buNone/>
            </a:pPr>
            <a:r>
              <a:rPr lang="en-US" sz="950" dirty="0">
                <a:solidFill>
                  <a:srgbClr val="E2E8F0"/>
                </a:solidFill>
                <a:latin typeface="Arial" pitchFamily="34" charset="0"/>
                <a:ea typeface="Arial" pitchFamily="34" charset="-122"/>
                <a:cs typeface="Arial" pitchFamily="34" charset="-120"/>
              </a:rPr>
              <a:t>Links demand surge alerts to India's Integrated Health Information Platform for coordinated epidemic containment.</a:t>
            </a:r>
            <a:endParaRPr lang="en-US" sz="950" dirty="0"/>
          </a:p>
        </p:txBody>
      </p:sp>
      <p:sp>
        <p:nvSpPr>
          <p:cNvPr id="23" name="Text 21"/>
          <p:cNvSpPr/>
          <p:nvPr/>
        </p:nvSpPr>
        <p:spPr>
          <a:xfrm>
            <a:off x="7863840" y="4754880"/>
            <a:ext cx="3291840" cy="731520"/>
          </a:xfrm>
          <a:prstGeom prst="rect">
            <a:avLst/>
          </a:prstGeom>
          <a:noFill/>
          <a:ln/>
        </p:spPr>
        <p:txBody>
          <a:bodyPr wrap="square" rtlCol="0" anchor="ctr"/>
          <a:lstStyle/>
          <a:p>
            <a:pPr indent="0" marL="0">
              <a:buNone/>
            </a:pPr>
            <a:r>
              <a:rPr lang="en-US" sz="950" i="1" dirty="0">
                <a:solidFill>
                  <a:srgbClr val="10B981"/>
                </a:solidFill>
                <a:latin typeface="Arial" pitchFamily="34" charset="0"/>
                <a:ea typeface="Arial" pitchFamily="34" charset="-122"/>
                <a:cs typeface="Arial" pitchFamily="34" charset="-120"/>
              </a:rPr>
              <a:t>Cloud Run Scalability: Serverless architecture handles 50,000 concurrent daily uploads with sub-second response times.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411480"/>
            <a:ext cx="7772400" cy="274320"/>
          </a:xfrm>
          <a:prstGeom prst="rect">
            <a:avLst/>
          </a:prstGeom>
          <a:noFill/>
          <a:ln/>
        </p:spPr>
        <p:txBody>
          <a:bodyPr wrap="square" rtlCol="0" anchor="ctr"/>
          <a:lstStyle/>
          <a:p>
            <a:pPr indent="0" marL="0">
              <a:buNone/>
            </a:pPr>
            <a:r>
              <a:rPr lang="en-US" sz="1000" b="1" spc="150" kern="0" dirty="0">
                <a:solidFill>
                  <a:srgbClr val="14B8A6"/>
                </a:solidFill>
                <a:latin typeface="Arial" pitchFamily="34" charset="0"/>
                <a:ea typeface="Arial" pitchFamily="34" charset="-122"/>
                <a:cs typeface="Arial" pitchFamily="34" charset="-120"/>
              </a:rPr>
              <a:t>IMPACT &amp; VISION  |  SLIDE 12 OF 12</a:t>
            </a:r>
            <a:endParaRPr lang="en-US" sz="1000" dirty="0"/>
          </a:p>
        </p:txBody>
      </p:sp>
      <p:sp>
        <p:nvSpPr>
          <p:cNvPr id="3" name="Text 1"/>
          <p:cNvSpPr/>
          <p:nvPr/>
        </p:nvSpPr>
        <p:spPr>
          <a:xfrm>
            <a:off x="731520" y="685800"/>
            <a:ext cx="105156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A Self-Healing Public Health Grid for 1.4 Billion People</a:t>
            </a:r>
            <a:endParaRPr lang="en-US" sz="2200" dirty="0"/>
          </a:p>
        </p:txBody>
      </p:sp>
      <p:sp>
        <p:nvSpPr>
          <p:cNvPr id="4" name="Text 2"/>
          <p:cNvSpPr/>
          <p:nvPr/>
        </p:nvSpPr>
        <p:spPr>
          <a:xfrm>
            <a:off x="731520" y="1143000"/>
            <a:ext cx="10515600" cy="32004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Measurable outcomes across rural healthcare, waste elimination, and emergency readiness</a:t>
            </a:r>
            <a:endParaRPr lang="en-US" sz="1200" dirty="0"/>
          </a:p>
        </p:txBody>
      </p:sp>
      <p:sp>
        <p:nvSpPr>
          <p:cNvPr id="5" name="Shape 3"/>
          <p:cNvSpPr/>
          <p:nvPr/>
        </p:nvSpPr>
        <p:spPr>
          <a:xfrm>
            <a:off x="731520" y="6217920"/>
            <a:ext cx="10698480" cy="0"/>
          </a:xfrm>
          <a:prstGeom prst="line">
            <a:avLst/>
          </a:prstGeom>
          <a:noFill/>
          <a:ln w="12700">
            <a:solidFill>
              <a:srgbClr val="334155"/>
            </a:solidFill>
            <a:prstDash val="solid"/>
          </a:ln>
        </p:spPr>
      </p:sp>
      <p:sp>
        <p:nvSpPr>
          <p:cNvPr id="6" name="Text 4"/>
          <p:cNvSpPr/>
          <p:nvPr/>
        </p:nvSpPr>
        <p:spPr>
          <a:xfrm>
            <a:off x="731520" y="630936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PHC Pulse  ·  National Public Health Supply Chain Co-Pilot  ·  Confidential Evaluation Deck</a:t>
            </a:r>
            <a:endParaRPr lang="en-US" sz="900" dirty="0"/>
          </a:p>
        </p:txBody>
      </p:sp>
      <p:sp>
        <p:nvSpPr>
          <p:cNvPr id="7" name="Text 5"/>
          <p:cNvSpPr/>
          <p:nvPr/>
        </p:nvSpPr>
        <p:spPr>
          <a:xfrm>
            <a:off x="9601200" y="6309360"/>
            <a:ext cx="1828800" cy="274320"/>
          </a:xfrm>
          <a:prstGeom prst="rect">
            <a:avLst/>
          </a:prstGeom>
          <a:noFill/>
          <a:ln/>
        </p:spPr>
        <p:txBody>
          <a:bodyPr wrap="square" rtlCol="0" anchor="ctr"/>
          <a:lstStyle/>
          <a:p>
            <a:pPr algn="r" indent="0" marL="0">
              <a:buNone/>
            </a:pPr>
            <a:r>
              <a:rPr lang="en-US" sz="900" b="1" dirty="0">
                <a:solidFill>
                  <a:srgbClr val="14B8A6"/>
                </a:solidFill>
                <a:latin typeface="Arial" pitchFamily="34" charset="0"/>
                <a:ea typeface="Arial" pitchFamily="34" charset="-122"/>
                <a:cs typeface="Arial" pitchFamily="34" charset="-120"/>
              </a:rPr>
              <a:t>Slide 12</a:t>
            </a:r>
            <a:endParaRPr lang="en-US" sz="900" dirty="0"/>
          </a:p>
        </p:txBody>
      </p:sp>
      <p:sp>
        <p:nvSpPr>
          <p:cNvPr id="8" name="Shape 6"/>
          <p:cNvSpPr/>
          <p:nvPr/>
        </p:nvSpPr>
        <p:spPr>
          <a:xfrm>
            <a:off x="731520" y="1645920"/>
            <a:ext cx="2468880" cy="2377440"/>
          </a:xfrm>
          <a:prstGeom prst="roundRect">
            <a:avLst>
              <a:gd name="adj" fmla="val 5769"/>
            </a:avLst>
          </a:prstGeom>
          <a:solidFill>
            <a:srgbClr val="1E293B"/>
          </a:solidFill>
          <a:ln w="12700">
            <a:solidFill>
              <a:srgbClr val="334155"/>
            </a:solidFill>
            <a:prstDash val="solid"/>
          </a:ln>
        </p:spPr>
      </p:sp>
      <p:sp>
        <p:nvSpPr>
          <p:cNvPr id="9" name="Text 7"/>
          <p:cNvSpPr/>
          <p:nvPr/>
        </p:nvSpPr>
        <p:spPr>
          <a:xfrm>
            <a:off x="914400" y="1920240"/>
            <a:ext cx="2103120" cy="548640"/>
          </a:xfrm>
          <a:prstGeom prst="rect">
            <a:avLst/>
          </a:prstGeom>
          <a:noFill/>
          <a:ln/>
        </p:spPr>
        <p:txBody>
          <a:bodyPr wrap="square" rtlCol="0" anchor="ctr"/>
          <a:lstStyle/>
          <a:p>
            <a:pPr indent="0" marL="0">
              <a:buNone/>
            </a:pPr>
            <a:r>
              <a:rPr lang="en-US" sz="2800" b="1" dirty="0">
                <a:solidFill>
                  <a:srgbClr val="14B8A6"/>
                </a:solidFill>
                <a:latin typeface="Arial" pitchFamily="34" charset="0"/>
                <a:ea typeface="Arial" pitchFamily="34" charset="-122"/>
                <a:cs typeface="Arial" pitchFamily="34" charset="-120"/>
              </a:rPr>
              <a:t>80%+</a:t>
            </a:r>
            <a:endParaRPr lang="en-US" sz="2800" dirty="0"/>
          </a:p>
        </p:txBody>
      </p:sp>
      <p:sp>
        <p:nvSpPr>
          <p:cNvPr id="10" name="Text 8"/>
          <p:cNvSpPr/>
          <p:nvPr/>
        </p:nvSpPr>
        <p:spPr>
          <a:xfrm>
            <a:off x="914400" y="2514600"/>
            <a:ext cx="210312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Stock-Out Reduction</a:t>
            </a:r>
            <a:endParaRPr lang="en-US" sz="1100" dirty="0"/>
          </a:p>
        </p:txBody>
      </p:sp>
      <p:sp>
        <p:nvSpPr>
          <p:cNvPr id="11" name="Text 9"/>
          <p:cNvSpPr/>
          <p:nvPr/>
        </p:nvSpPr>
        <p:spPr>
          <a:xfrm>
            <a:off x="914400" y="2971800"/>
            <a:ext cx="2103120" cy="914400"/>
          </a:xfrm>
          <a:prstGeom prst="rect">
            <a:avLst/>
          </a:prstGeom>
          <a:noFill/>
          <a:ln/>
        </p:spPr>
        <p:txBody>
          <a:bodyPr wrap="square" rtlCol="0" anchor="ctr"/>
          <a:lstStyle/>
          <a:p>
            <a:pPr indent="0" marL="0">
              <a:lnSpc>
                <a:spcPts val="1300"/>
              </a:lnSpc>
              <a:buNone/>
            </a:pPr>
            <a:r>
              <a:rPr lang="en-US" sz="950" dirty="0">
                <a:solidFill>
                  <a:srgbClr val="E2E8F0"/>
                </a:solidFill>
                <a:latin typeface="Arial" pitchFamily="34" charset="0"/>
                <a:ea typeface="Arial" pitchFamily="34" charset="-122"/>
                <a:cs typeface="Arial" pitchFamily="34" charset="-120"/>
              </a:rPr>
              <a:t>Essential medicines always available at rural clinics</a:t>
            </a:r>
            <a:endParaRPr lang="en-US" sz="950" dirty="0"/>
          </a:p>
        </p:txBody>
      </p:sp>
      <p:sp>
        <p:nvSpPr>
          <p:cNvPr id="12" name="Shape 10"/>
          <p:cNvSpPr/>
          <p:nvPr/>
        </p:nvSpPr>
        <p:spPr>
          <a:xfrm>
            <a:off x="3474720" y="1645920"/>
            <a:ext cx="2468880" cy="2377440"/>
          </a:xfrm>
          <a:prstGeom prst="roundRect">
            <a:avLst>
              <a:gd name="adj" fmla="val 5769"/>
            </a:avLst>
          </a:prstGeom>
          <a:solidFill>
            <a:srgbClr val="1E293B"/>
          </a:solidFill>
          <a:ln w="12700">
            <a:solidFill>
              <a:srgbClr val="334155"/>
            </a:solidFill>
            <a:prstDash val="solid"/>
          </a:ln>
        </p:spPr>
      </p:sp>
      <p:sp>
        <p:nvSpPr>
          <p:cNvPr id="13" name="Text 11"/>
          <p:cNvSpPr/>
          <p:nvPr/>
        </p:nvSpPr>
        <p:spPr>
          <a:xfrm>
            <a:off x="3657600" y="1920240"/>
            <a:ext cx="2103120" cy="548640"/>
          </a:xfrm>
          <a:prstGeom prst="rect">
            <a:avLst/>
          </a:prstGeom>
          <a:noFill/>
          <a:ln/>
        </p:spPr>
        <p:txBody>
          <a:bodyPr wrap="square" rtlCol="0" anchor="ctr"/>
          <a:lstStyle/>
          <a:p>
            <a:pPr indent="0" marL="0">
              <a:buNone/>
            </a:pPr>
            <a:r>
              <a:rPr lang="en-US" sz="2800" b="1" dirty="0">
                <a:solidFill>
                  <a:srgbClr val="14B8A6"/>
                </a:solidFill>
                <a:latin typeface="Arial" pitchFamily="34" charset="0"/>
                <a:ea typeface="Arial" pitchFamily="34" charset="-122"/>
                <a:cs typeface="Arial" pitchFamily="34" charset="-120"/>
              </a:rPr>
              <a:t>35%</a:t>
            </a:r>
            <a:endParaRPr lang="en-US" sz="2800" dirty="0"/>
          </a:p>
        </p:txBody>
      </p:sp>
      <p:sp>
        <p:nvSpPr>
          <p:cNvPr id="14" name="Text 12"/>
          <p:cNvSpPr/>
          <p:nvPr/>
        </p:nvSpPr>
        <p:spPr>
          <a:xfrm>
            <a:off x="3657600" y="2514600"/>
            <a:ext cx="210312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Waste Elimination</a:t>
            </a:r>
            <a:endParaRPr lang="en-US" sz="1100" dirty="0"/>
          </a:p>
        </p:txBody>
      </p:sp>
      <p:sp>
        <p:nvSpPr>
          <p:cNvPr id="15" name="Text 13"/>
          <p:cNvSpPr/>
          <p:nvPr/>
        </p:nvSpPr>
        <p:spPr>
          <a:xfrm>
            <a:off x="3657600" y="2971800"/>
            <a:ext cx="2103120" cy="914400"/>
          </a:xfrm>
          <a:prstGeom prst="rect">
            <a:avLst/>
          </a:prstGeom>
          <a:noFill/>
          <a:ln/>
        </p:spPr>
        <p:txBody>
          <a:bodyPr wrap="square" rtlCol="0" anchor="ctr"/>
          <a:lstStyle/>
          <a:p>
            <a:pPr indent="0" marL="0">
              <a:lnSpc>
                <a:spcPts val="1300"/>
              </a:lnSpc>
              <a:buNone/>
            </a:pPr>
            <a:r>
              <a:rPr lang="en-US" sz="950" dirty="0">
                <a:solidFill>
                  <a:srgbClr val="E2E8F0"/>
                </a:solidFill>
                <a:latin typeface="Arial" pitchFamily="34" charset="0"/>
                <a:ea typeface="Arial" pitchFamily="34" charset="-122"/>
                <a:cs typeface="Arial" pitchFamily="34" charset="-120"/>
              </a:rPr>
              <a:t>Reduction in expired medicine incinerations via FEFO</a:t>
            </a:r>
            <a:endParaRPr lang="en-US" sz="950" dirty="0"/>
          </a:p>
        </p:txBody>
      </p:sp>
      <p:sp>
        <p:nvSpPr>
          <p:cNvPr id="16" name="Shape 14"/>
          <p:cNvSpPr/>
          <p:nvPr/>
        </p:nvSpPr>
        <p:spPr>
          <a:xfrm>
            <a:off x="6217920" y="1645920"/>
            <a:ext cx="2468880" cy="2377440"/>
          </a:xfrm>
          <a:prstGeom prst="roundRect">
            <a:avLst>
              <a:gd name="adj" fmla="val 5769"/>
            </a:avLst>
          </a:prstGeom>
          <a:solidFill>
            <a:srgbClr val="1E293B"/>
          </a:solidFill>
          <a:ln w="12700">
            <a:solidFill>
              <a:srgbClr val="334155"/>
            </a:solidFill>
            <a:prstDash val="solid"/>
          </a:ln>
        </p:spPr>
      </p:sp>
      <p:sp>
        <p:nvSpPr>
          <p:cNvPr id="17" name="Text 15"/>
          <p:cNvSpPr/>
          <p:nvPr/>
        </p:nvSpPr>
        <p:spPr>
          <a:xfrm>
            <a:off x="6400800" y="1920240"/>
            <a:ext cx="2103120" cy="548640"/>
          </a:xfrm>
          <a:prstGeom prst="rect">
            <a:avLst/>
          </a:prstGeom>
          <a:noFill/>
          <a:ln/>
        </p:spPr>
        <p:txBody>
          <a:bodyPr wrap="square" rtlCol="0" anchor="ctr"/>
          <a:lstStyle/>
          <a:p>
            <a:pPr indent="0" marL="0">
              <a:buNone/>
            </a:pPr>
            <a:r>
              <a:rPr lang="en-US" sz="2800" b="1" dirty="0">
                <a:solidFill>
                  <a:srgbClr val="14B8A6"/>
                </a:solidFill>
                <a:latin typeface="Arial" pitchFamily="34" charset="0"/>
                <a:ea typeface="Arial" pitchFamily="34" charset="-122"/>
                <a:cs typeface="Arial" pitchFamily="34" charset="-120"/>
              </a:rPr>
              <a:t>14 Days</a:t>
            </a:r>
            <a:endParaRPr lang="en-US" sz="2800" dirty="0"/>
          </a:p>
        </p:txBody>
      </p:sp>
      <p:sp>
        <p:nvSpPr>
          <p:cNvPr id="18" name="Text 16"/>
          <p:cNvSpPr/>
          <p:nvPr/>
        </p:nvSpPr>
        <p:spPr>
          <a:xfrm>
            <a:off x="6400800" y="2514600"/>
            <a:ext cx="210312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Early Outbreak Warning</a:t>
            </a:r>
            <a:endParaRPr lang="en-US" sz="1100" dirty="0"/>
          </a:p>
        </p:txBody>
      </p:sp>
      <p:sp>
        <p:nvSpPr>
          <p:cNvPr id="19" name="Text 17"/>
          <p:cNvSpPr/>
          <p:nvPr/>
        </p:nvSpPr>
        <p:spPr>
          <a:xfrm>
            <a:off x="6400800" y="2971800"/>
            <a:ext cx="2103120" cy="914400"/>
          </a:xfrm>
          <a:prstGeom prst="rect">
            <a:avLst/>
          </a:prstGeom>
          <a:noFill/>
          <a:ln/>
        </p:spPr>
        <p:txBody>
          <a:bodyPr wrap="square" rtlCol="0" anchor="ctr"/>
          <a:lstStyle/>
          <a:p>
            <a:pPr indent="0" marL="0">
              <a:lnSpc>
                <a:spcPts val="1300"/>
              </a:lnSpc>
              <a:buNone/>
            </a:pPr>
            <a:r>
              <a:rPr lang="en-US" sz="950" dirty="0">
                <a:solidFill>
                  <a:srgbClr val="E2E8F0"/>
                </a:solidFill>
                <a:latin typeface="Arial" pitchFamily="34" charset="0"/>
                <a:ea typeface="Arial" pitchFamily="34" charset="-122"/>
                <a:cs typeface="Arial" pitchFamily="34" charset="-120"/>
              </a:rPr>
              <a:t>Advance notice to mobilize district reserve stockpiles</a:t>
            </a:r>
            <a:endParaRPr lang="en-US" sz="950" dirty="0"/>
          </a:p>
        </p:txBody>
      </p:sp>
      <p:sp>
        <p:nvSpPr>
          <p:cNvPr id="20" name="Shape 18"/>
          <p:cNvSpPr/>
          <p:nvPr/>
        </p:nvSpPr>
        <p:spPr>
          <a:xfrm>
            <a:off x="8961120" y="1645920"/>
            <a:ext cx="2468880" cy="2377440"/>
          </a:xfrm>
          <a:prstGeom prst="roundRect">
            <a:avLst>
              <a:gd name="adj" fmla="val 5769"/>
            </a:avLst>
          </a:prstGeom>
          <a:solidFill>
            <a:srgbClr val="1E293B"/>
          </a:solidFill>
          <a:ln w="12700">
            <a:solidFill>
              <a:srgbClr val="334155"/>
            </a:solidFill>
            <a:prstDash val="solid"/>
          </a:ln>
        </p:spPr>
      </p:sp>
      <p:sp>
        <p:nvSpPr>
          <p:cNvPr id="21" name="Text 19"/>
          <p:cNvSpPr/>
          <p:nvPr/>
        </p:nvSpPr>
        <p:spPr>
          <a:xfrm>
            <a:off x="9144000" y="1920240"/>
            <a:ext cx="2103120" cy="548640"/>
          </a:xfrm>
          <a:prstGeom prst="rect">
            <a:avLst/>
          </a:prstGeom>
          <a:noFill/>
          <a:ln/>
        </p:spPr>
        <p:txBody>
          <a:bodyPr wrap="square" rtlCol="0" anchor="ctr"/>
          <a:lstStyle/>
          <a:p>
            <a:pPr indent="0" marL="0">
              <a:buNone/>
            </a:pPr>
            <a:r>
              <a:rPr lang="en-US" sz="2800" b="1" dirty="0">
                <a:solidFill>
                  <a:srgbClr val="14B8A6"/>
                </a:solidFill>
                <a:latin typeface="Arial" pitchFamily="34" charset="0"/>
                <a:ea typeface="Arial" pitchFamily="34" charset="-122"/>
                <a:cs typeface="Arial" pitchFamily="34" charset="-120"/>
              </a:rPr>
              <a:t>100%</a:t>
            </a:r>
            <a:endParaRPr lang="en-US" sz="2800" dirty="0"/>
          </a:p>
        </p:txBody>
      </p:sp>
      <p:sp>
        <p:nvSpPr>
          <p:cNvPr id="22" name="Text 20"/>
          <p:cNvSpPr/>
          <p:nvPr/>
        </p:nvSpPr>
        <p:spPr>
          <a:xfrm>
            <a:off x="9144000" y="2514600"/>
            <a:ext cx="210312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Data Sovereignty</a:t>
            </a:r>
            <a:endParaRPr lang="en-US" sz="1100" dirty="0"/>
          </a:p>
        </p:txBody>
      </p:sp>
      <p:sp>
        <p:nvSpPr>
          <p:cNvPr id="23" name="Text 21"/>
          <p:cNvSpPr/>
          <p:nvPr/>
        </p:nvSpPr>
        <p:spPr>
          <a:xfrm>
            <a:off x="9144000" y="2971800"/>
            <a:ext cx="2103120" cy="914400"/>
          </a:xfrm>
          <a:prstGeom prst="rect">
            <a:avLst/>
          </a:prstGeom>
          <a:noFill/>
          <a:ln/>
        </p:spPr>
        <p:txBody>
          <a:bodyPr wrap="square" rtlCol="0" anchor="ctr"/>
          <a:lstStyle/>
          <a:p>
            <a:pPr indent="0" marL="0">
              <a:lnSpc>
                <a:spcPts val="1300"/>
              </a:lnSpc>
              <a:buNone/>
            </a:pPr>
            <a:r>
              <a:rPr lang="en-US" sz="950" dirty="0">
                <a:solidFill>
                  <a:srgbClr val="E2E8F0"/>
                </a:solidFill>
                <a:latin typeface="Arial" pitchFamily="34" charset="0"/>
                <a:ea typeface="Arial" pitchFamily="34" charset="-122"/>
                <a:cs typeface="Arial" pitchFamily="34" charset="-120"/>
              </a:rPr>
              <a:t>Constitutional privacy preserved across all state jurisdictions</a:t>
            </a:r>
            <a:endParaRPr lang="en-US" sz="950" dirty="0"/>
          </a:p>
        </p:txBody>
      </p:sp>
      <p:sp>
        <p:nvSpPr>
          <p:cNvPr id="24" name="Shape 22"/>
          <p:cNvSpPr/>
          <p:nvPr/>
        </p:nvSpPr>
        <p:spPr>
          <a:xfrm>
            <a:off x="731520" y="4297680"/>
            <a:ext cx="10698480" cy="1691640"/>
          </a:xfrm>
          <a:prstGeom prst="roundRect">
            <a:avLst>
              <a:gd name="adj" fmla="val 8108"/>
            </a:avLst>
          </a:prstGeom>
          <a:solidFill>
            <a:srgbClr val="064E3B"/>
          </a:solidFill>
          <a:ln w="19050">
            <a:solidFill>
              <a:srgbClr val="10B981"/>
            </a:solidFill>
            <a:prstDash val="solid"/>
          </a:ln>
        </p:spPr>
      </p:sp>
      <p:sp>
        <p:nvSpPr>
          <p:cNvPr id="25" name="Text 23"/>
          <p:cNvSpPr/>
          <p:nvPr/>
        </p:nvSpPr>
        <p:spPr>
          <a:xfrm>
            <a:off x="1097280" y="4526280"/>
            <a:ext cx="9966960" cy="274320"/>
          </a:xfrm>
          <a:prstGeom prst="rect">
            <a:avLst/>
          </a:prstGeom>
          <a:noFill/>
          <a:ln/>
        </p:spPr>
        <p:txBody>
          <a:bodyPr wrap="square" rtlCol="0" anchor="ctr"/>
          <a:lstStyle/>
          <a:p>
            <a:pPr indent="0" marL="0">
              <a:buNone/>
            </a:pPr>
            <a:r>
              <a:rPr lang="en-US" sz="1100" b="1" spc="200" kern="0" dirty="0">
                <a:solidFill>
                  <a:srgbClr val="A7F3D0"/>
                </a:solidFill>
                <a:latin typeface="Arial" pitchFamily="34" charset="0"/>
                <a:ea typeface="Arial" pitchFamily="34" charset="-122"/>
                <a:cs typeface="Arial" pitchFamily="34" charset="-120"/>
              </a:rPr>
              <a:t>THE VISION FOR NATIONAL HEALTHCARE IN INDIA</a:t>
            </a:r>
            <a:endParaRPr lang="en-US" sz="1100" dirty="0"/>
          </a:p>
        </p:txBody>
      </p:sp>
      <p:sp>
        <p:nvSpPr>
          <p:cNvPr id="26" name="Text 24"/>
          <p:cNvSpPr/>
          <p:nvPr/>
        </p:nvSpPr>
        <p:spPr>
          <a:xfrm>
            <a:off x="1097280" y="4892040"/>
            <a:ext cx="9966960" cy="822960"/>
          </a:xfrm>
          <a:prstGeom prst="rect">
            <a:avLst/>
          </a:prstGeom>
          <a:noFill/>
          <a:ln/>
        </p:spPr>
        <p:txBody>
          <a:bodyPr wrap="square" rtlCol="0" anchor="ctr"/>
          <a:lstStyle/>
          <a:p>
            <a:pPr indent="0" marL="0">
              <a:lnSpc>
                <a:spcPts val="1800"/>
              </a:lnSpc>
              <a:buNone/>
            </a:pPr>
            <a:r>
              <a:rPr lang="en-US" sz="1300" b="1" dirty="0">
                <a:solidFill>
                  <a:srgbClr val="FFFFFF"/>
                </a:solidFill>
                <a:latin typeface="Arial" pitchFamily="34" charset="0"/>
                <a:ea typeface="Arial" pitchFamily="34" charset="-122"/>
                <a:cs typeface="Arial" pitchFamily="34" charset="-120"/>
              </a:rPr>
              <a:t>PHC Pulse turns isolated rural dispensaries into an interconnected, self-healing public health defense grid.</a:t>
            </a:r>
            <a:endParaRPr lang="en-US" sz="1300" dirty="0"/>
          </a:p>
          <a:p>
            <a:pPr indent="0" marL="0">
              <a:lnSpc>
                <a:spcPts val="1800"/>
              </a:lnSpc>
              <a:buNone/>
            </a:pPr>
            <a:r>
              <a:rPr lang="en-US" sz="1300" b="1" dirty="0">
                <a:solidFill>
                  <a:srgbClr val="FFFFFF"/>
                </a:solidFill>
                <a:latin typeface="Arial" pitchFamily="34" charset="0"/>
                <a:ea typeface="Arial" pitchFamily="34" charset="-122"/>
                <a:cs typeface="Arial" pitchFamily="34" charset="-120"/>
              </a:rPr>
              <a:t>No Indian citizen in any village should ever be turned away from a Primary Health Centre due to an unpredicted medicine shortage.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National Public Health Supply Chain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PHC Pulse: Evaluation Pitch Deck</dc:title>
  <dc:subject>AI Co-Pilot for National Public Health Supply Chain Management across India</dc:subject>
  <dc:creator>PHC Pulse Team</dc:creator>
  <cp:lastModifiedBy>PHC Pulse Team</cp:lastModifiedBy>
  <cp:revision>1</cp:revision>
  <dcterms:created xsi:type="dcterms:W3CDTF">2026-09-30T02:34:15Z</dcterms:created>
  <dcterms:modified xsi:type="dcterms:W3CDTF">2026-09-30T02:34:15Z</dcterms:modified>
</cp:coreProperties>
</file>